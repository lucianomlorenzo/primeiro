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6987D-69C6-0F0A-2D9A-6BADF7407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65F792-B675-EFCE-8E66-25D6CDB47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303DD3-D55C-EAFF-4DAE-31CFB2C1F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B553-7271-4E24-B1F7-F5920C5AC194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AA242E-0855-CB19-44FF-D1A3BAD09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67BE56-C264-41AC-160B-933B0F72F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9BCD-54E0-430B-B134-0D987F555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24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B12685-5775-ECA2-9A98-98898DDB1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5701EE-7D9D-2E52-60A5-21E76E3E0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B1B146-5FA8-ACBF-189D-C8203BCE5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B553-7271-4E24-B1F7-F5920C5AC194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BA739D-7AA3-A2B4-4FAF-B876218D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E6D1A0-8235-2CD1-85C0-C1892B04E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9BCD-54E0-430B-B134-0D987F555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097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87694-B628-04BB-22E8-22AF7476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9995D5-22CB-4BCA-81B2-2D878ADC6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EB01C5-5966-6EA6-D08D-4AF14AAAB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B553-7271-4E24-B1F7-F5920C5AC194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55B4D9-453F-E7A4-65DE-0A51B7536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27FC6D-48E9-3135-54C6-C40020299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9BCD-54E0-430B-B134-0D987F555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8513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3E909-9280-2D8F-2E52-E6C9A4925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960C4E-B9C3-9AE4-7431-1ADE2C4D6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A3448D-42A7-CE5F-E6E3-ECC899534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1EC3DD-AEB1-57D0-137F-734F65065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B553-7271-4E24-B1F7-F5920C5AC194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404168-4C2F-2187-CA79-6AE2ACBE3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279BF5-CBAF-728F-3272-3B5E5952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9BCD-54E0-430B-B134-0D987F555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8158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9E68E-D850-4432-3841-5E88CA4DF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A45D24-08B3-2C47-C496-3DD1CC55D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6C4B50-7BAE-ED8B-8ABE-6400CFEE9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FCBF1CF-2391-0240-A2A5-0B640CDBD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BEC9D8-34DF-1F9F-8094-16A065EDF6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2D8E537-5A17-5336-0F99-B34E446EE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B553-7271-4E24-B1F7-F5920C5AC194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C889A9E-CF14-905F-94B4-EF2B6211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468FF2C-3BCD-AAEC-4A97-57639AE2F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9BCD-54E0-430B-B134-0D987F555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9674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B20C76-51BC-67E9-5A50-26338A781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0C67B31-C5D4-8424-3212-9B9F9B9E4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B553-7271-4E24-B1F7-F5920C5AC194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E9CE99C-5BBE-4409-3264-744376E55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50A42AD-BDFD-0FE3-CF9A-58FE54851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9BCD-54E0-430B-B134-0D987F555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9064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4296D7E-CEB9-4634-1DE8-08FCB453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B553-7271-4E24-B1F7-F5920C5AC194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3145E33-A4C9-9406-D419-C3279CDDA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F79A9B-ADAC-F2C2-FBDC-901807AE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9BCD-54E0-430B-B134-0D987F555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498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F75714-5095-B2B4-A57A-B469C2033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C815D0-E247-8646-416F-E5F84FBF0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C496EB-25AD-81F2-92DE-94CE1D335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7D4B7A-924C-D09E-9B55-A77857F6C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B553-7271-4E24-B1F7-F5920C5AC194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C500E76-FC71-9E02-9F94-0A0116780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1BA07F7-3662-747C-1FDD-E220E1F60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9BCD-54E0-430B-B134-0D987F555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958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FAF9E-8431-345A-144C-6C0139851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2C4EDD-EC14-6A36-3446-5663626E2B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4227B7-A377-F6D0-2D51-2B86433EC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2CBB07-7339-302B-6A8E-55186A8B8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B553-7271-4E24-B1F7-F5920C5AC194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523754-A9CB-B8D5-D759-095015A33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819EB5-412A-ECA1-E8A3-EBDC89052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9BCD-54E0-430B-B134-0D987F555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2736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A2903-53DB-DF1A-455A-ECB01356F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1EACF2E-48A6-594D-A71A-4CD3C60CB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27B2B7-9AC5-3C7D-4E71-DA24812D2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B553-7271-4E24-B1F7-F5920C5AC194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7FFCD2-644B-9419-11FA-78CFB1858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9742F9-E318-7295-04A2-6F58B7E5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9BCD-54E0-430B-B134-0D987F555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4500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5991A6-D4F5-F0E2-1471-3308E9473E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E06883-C9E5-6CE8-AA37-09111DD63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B2AC96-3B4A-9F54-6041-6240F3B99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B553-7271-4E24-B1F7-F5920C5AC194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FCF273-BEC7-C310-62B8-C9718672F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3F5145-2EB1-B441-6276-E09FE7AF5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9BCD-54E0-430B-B134-0D987F555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996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0F1CEE2-73E1-1448-1017-BB890D00B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72746F-875C-C141-EC2E-738BCDDAF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CD5BE3-D6EB-FAE7-66FF-3C08CE0EB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2B553-7271-4E24-B1F7-F5920C5AC194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810D29-A7E3-A9FA-EC90-B3F58A6CA3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FF0921-9E5A-2DF0-3640-A1CE2433E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BB9BCD-54E0-430B-B134-0D987F555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392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30CE963-BF13-7897-AD28-A8217DB7FADD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EA30AD8-4E24-EB01-BC38-E99774BC9797}"/>
              </a:ext>
            </a:extLst>
          </p:cNvPr>
          <p:cNvSpPr/>
          <p:nvPr/>
        </p:nvSpPr>
        <p:spPr>
          <a:xfrm>
            <a:off x="0" y="5778500"/>
            <a:ext cx="12192000" cy="1079500"/>
          </a:xfrm>
          <a:prstGeom prst="rect">
            <a:avLst/>
          </a:prstGeom>
          <a:solidFill>
            <a:srgbClr val="0D0D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553A298-F57B-B0EF-3E92-7D140B6DC6DA}"/>
              </a:ext>
            </a:extLst>
          </p:cNvPr>
          <p:cNvSpPr txBox="1"/>
          <p:nvPr/>
        </p:nvSpPr>
        <p:spPr>
          <a:xfrm>
            <a:off x="508000" y="1270000"/>
            <a:ext cx="11176000" cy="64633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600" b="1">
                <a:solidFill>
                  <a:srgbClr val="FFFFFF"/>
                </a:solidFill>
                <a:latin typeface="Segoe UI" panose="020B0502040204020203" pitchFamily="34" charset="0"/>
              </a:rPr>
              <a:t>IA E A INDUSTRIA DE SOFTWARE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893FDF2-1B29-ACCE-CD11-AADF52E2ADF9}"/>
              </a:ext>
            </a:extLst>
          </p:cNvPr>
          <p:cNvSpPr txBox="1"/>
          <p:nvPr/>
        </p:nvSpPr>
        <p:spPr>
          <a:xfrm>
            <a:off x="508000" y="2349500"/>
            <a:ext cx="111760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200">
                <a:solidFill>
                  <a:srgbClr val="4EC9B0"/>
                </a:solidFill>
                <a:latin typeface="Segoe UI" panose="020B0502040204020203" pitchFamily="34" charset="0"/>
              </a:rPr>
              <a:t>Disrupcao, Oportunidade e os Novos Modelos de Valor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9D144AF-BDD9-9A70-7644-235082CFA0A2}"/>
              </a:ext>
            </a:extLst>
          </p:cNvPr>
          <p:cNvCxnSpPr/>
          <p:nvPr/>
        </p:nvCxnSpPr>
        <p:spPr>
          <a:xfrm>
            <a:off x="508000" y="3048000"/>
            <a:ext cx="11176000" cy="0"/>
          </a:xfrm>
          <a:prstGeom prst="line">
            <a:avLst/>
          </a:prstGeom>
          <a:ln w="254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12192999-55AC-4C59-ECBC-25735338BBA9}"/>
              </a:ext>
            </a:extLst>
          </p:cNvPr>
          <p:cNvSpPr txBox="1"/>
          <p:nvPr/>
        </p:nvSpPr>
        <p:spPr>
          <a:xfrm>
            <a:off x="508000" y="31750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CCCCCC"/>
                </a:solidFill>
                <a:latin typeface="Segoe UI" panose="020B0502040204020203" pitchFamily="34" charset="0"/>
              </a:rPr>
              <a:t>Apresentacao Executiva  |  60 minutos  |  Keynote para Painel de Debate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4539A65-CB00-6D44-4D7E-D702F70F381D}"/>
              </a:ext>
            </a:extLst>
          </p:cNvPr>
          <p:cNvSpPr txBox="1"/>
          <p:nvPr/>
        </p:nvSpPr>
        <p:spPr>
          <a:xfrm>
            <a:off x="508000" y="3581400"/>
            <a:ext cx="11176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CCCCCC"/>
                </a:solidFill>
                <a:latin typeface="Segoe UI" panose="020B0502040204020203" pitchFamily="34" charset="0"/>
              </a:rPr>
              <a:t>Publico: Executivos e Investidores da Industria de Software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6D20696-2CCA-9708-4381-24517534BE30}"/>
              </a:ext>
            </a:extLst>
          </p:cNvPr>
          <p:cNvSpPr txBox="1"/>
          <p:nvPr/>
        </p:nvSpPr>
        <p:spPr>
          <a:xfrm>
            <a:off x="508000" y="5969000"/>
            <a:ext cx="11176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88888"/>
                </a:solidFill>
                <a:latin typeface="Segoe UI" panose="020B0502040204020203" pitchFamily="34" charset="0"/>
              </a:rPr>
              <a:t>Versao 1.0</a:t>
            </a:r>
          </a:p>
        </p:txBody>
      </p:sp>
    </p:spTree>
    <p:extLst>
      <p:ext uri="{BB962C8B-B14F-4D97-AF65-F5344CB8AC3E}">
        <p14:creationId xmlns:p14="http://schemas.microsoft.com/office/powerpoint/2010/main" val="118388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C85CF8D-8D0A-5F46-2AB6-84C4651B7C54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0542C55-CA6F-E30C-5903-382341FFF4DB}"/>
              </a:ext>
            </a:extLst>
          </p:cNvPr>
          <p:cNvSpPr txBox="1"/>
          <p:nvPr/>
        </p:nvSpPr>
        <p:spPr>
          <a:xfrm>
            <a:off x="254000" y="254000"/>
            <a:ext cx="11684000" cy="4616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400" b="1">
                <a:solidFill>
                  <a:srgbClr val="FFFFFF"/>
                </a:solidFill>
                <a:latin typeface="Segoe UI" panose="020B0502040204020203" pitchFamily="34" charset="0"/>
              </a:rPr>
              <a:t>ESTRUTURA DA APRESENTACAO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D8A056FD-073C-52CB-4E83-36F7429B49C3}"/>
              </a:ext>
            </a:extLst>
          </p:cNvPr>
          <p:cNvCxnSpPr/>
          <p:nvPr/>
        </p:nvCxnSpPr>
        <p:spPr>
          <a:xfrm>
            <a:off x="254000" y="787400"/>
            <a:ext cx="11684000" cy="0"/>
          </a:xfrm>
          <a:prstGeom prst="line">
            <a:avLst/>
          </a:prstGeom>
          <a:ln w="127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34513881-0D19-97C3-85B3-A0E096D833C1}"/>
              </a:ext>
            </a:extLst>
          </p:cNvPr>
          <p:cNvSpPr/>
          <p:nvPr/>
        </p:nvSpPr>
        <p:spPr>
          <a:xfrm>
            <a:off x="254000" y="965200"/>
            <a:ext cx="635000" cy="457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7E406E3-DA29-BEB0-1CD0-AD369AC413E0}"/>
              </a:ext>
            </a:extLst>
          </p:cNvPr>
          <p:cNvSpPr txBox="1"/>
          <p:nvPr/>
        </p:nvSpPr>
        <p:spPr>
          <a:xfrm>
            <a:off x="254000" y="1041400"/>
            <a:ext cx="635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400" b="1">
                <a:solidFill>
                  <a:srgbClr val="1C1C3A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6C4C2E4-9175-765A-1564-DD70F9D5CCAA}"/>
              </a:ext>
            </a:extLst>
          </p:cNvPr>
          <p:cNvSpPr txBox="1"/>
          <p:nvPr/>
        </p:nvSpPr>
        <p:spPr>
          <a:xfrm>
            <a:off x="1016000" y="1066800"/>
            <a:ext cx="9652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Abertura: O Chao Esta Se Movendo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7B7DFA2-A5C9-A375-3590-8C868298BD26}"/>
              </a:ext>
            </a:extLst>
          </p:cNvPr>
          <p:cNvSpPr txBox="1"/>
          <p:nvPr/>
        </p:nvSpPr>
        <p:spPr>
          <a:xfrm>
            <a:off x="10795000" y="10668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300" b="1">
                <a:solidFill>
                  <a:srgbClr val="E94560"/>
                </a:solidFill>
                <a:latin typeface="Segoe UI" panose="020B0502040204020203" pitchFamily="34" charset="0"/>
              </a:rPr>
              <a:t>5 min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5A9C9FB-3CC3-89BE-01EC-498CA1286050}"/>
              </a:ext>
            </a:extLst>
          </p:cNvPr>
          <p:cNvSpPr/>
          <p:nvPr/>
        </p:nvSpPr>
        <p:spPr>
          <a:xfrm>
            <a:off x="254000" y="1549400"/>
            <a:ext cx="635000" cy="457200"/>
          </a:xfrm>
          <a:prstGeom prst="rect">
            <a:avLst/>
          </a:prstGeom>
          <a:solidFill>
            <a:srgbClr val="4EC9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2A65E4D-A005-263B-01C6-F9E3CDAE7751}"/>
              </a:ext>
            </a:extLst>
          </p:cNvPr>
          <p:cNvSpPr txBox="1"/>
          <p:nvPr/>
        </p:nvSpPr>
        <p:spPr>
          <a:xfrm>
            <a:off x="254000" y="1625600"/>
            <a:ext cx="635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400" b="1">
                <a:solidFill>
                  <a:srgbClr val="1C1C3A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0DF8141-3EFD-971D-6D66-AF0642043E95}"/>
              </a:ext>
            </a:extLst>
          </p:cNvPr>
          <p:cNvSpPr txBox="1"/>
          <p:nvPr/>
        </p:nvSpPr>
        <p:spPr>
          <a:xfrm>
            <a:off x="1016000" y="1651000"/>
            <a:ext cx="9652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O Que a IA Ja Mudou - Dados e Evidencias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786DD6A-7A02-0501-908E-B86C4F2F77A5}"/>
              </a:ext>
            </a:extLst>
          </p:cNvPr>
          <p:cNvSpPr txBox="1"/>
          <p:nvPr/>
        </p:nvSpPr>
        <p:spPr>
          <a:xfrm>
            <a:off x="10795000" y="16510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300" b="1">
                <a:solidFill>
                  <a:srgbClr val="4EC9B0"/>
                </a:solidFill>
                <a:latin typeface="Segoe UI" panose="020B0502040204020203" pitchFamily="34" charset="0"/>
              </a:rPr>
              <a:t>15 min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E1F3680-86E2-933E-946D-968DE74D1E68}"/>
              </a:ext>
            </a:extLst>
          </p:cNvPr>
          <p:cNvSpPr/>
          <p:nvPr/>
        </p:nvSpPr>
        <p:spPr>
          <a:xfrm>
            <a:off x="254000" y="2133600"/>
            <a:ext cx="635000" cy="457200"/>
          </a:xfrm>
          <a:prstGeom prst="rect">
            <a:avLst/>
          </a:prstGeom>
          <a:solidFill>
            <a:srgbClr val="F5C5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122740A-3184-C10A-4CF3-BB2688376106}"/>
              </a:ext>
            </a:extLst>
          </p:cNvPr>
          <p:cNvSpPr txBox="1"/>
          <p:nvPr/>
        </p:nvSpPr>
        <p:spPr>
          <a:xfrm>
            <a:off x="254000" y="2209800"/>
            <a:ext cx="635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400" b="1">
                <a:solidFill>
                  <a:srgbClr val="1C1C3A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6AFBAFA-DA4B-CD5C-F09E-7A4EF6797A08}"/>
              </a:ext>
            </a:extLst>
          </p:cNvPr>
          <p:cNvSpPr txBox="1"/>
          <p:nvPr/>
        </p:nvSpPr>
        <p:spPr>
          <a:xfrm>
            <a:off x="1016000" y="2235200"/>
            <a:ext cx="9652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Onde o Modelo de Negocio E Desafiado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56690D7-61E1-93F0-7122-FFF4B3D14D6A}"/>
              </a:ext>
            </a:extLst>
          </p:cNvPr>
          <p:cNvSpPr txBox="1"/>
          <p:nvPr/>
        </p:nvSpPr>
        <p:spPr>
          <a:xfrm>
            <a:off x="10795000" y="22352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300" b="1">
                <a:solidFill>
                  <a:srgbClr val="F5C518"/>
                </a:solidFill>
                <a:latin typeface="Segoe UI" panose="020B0502040204020203" pitchFamily="34" charset="0"/>
              </a:rPr>
              <a:t>15 min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DCBEFA0-12E1-63A7-D09C-F231C0583D80}"/>
              </a:ext>
            </a:extLst>
          </p:cNvPr>
          <p:cNvSpPr/>
          <p:nvPr/>
        </p:nvSpPr>
        <p:spPr>
          <a:xfrm>
            <a:off x="254000" y="2717800"/>
            <a:ext cx="635000" cy="457200"/>
          </a:xfrm>
          <a:prstGeom prst="rect">
            <a:avLst/>
          </a:prstGeom>
          <a:solidFill>
            <a:srgbClr val="74B9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729D68D-8885-114A-5B26-FAF662BE08ED}"/>
              </a:ext>
            </a:extLst>
          </p:cNvPr>
          <p:cNvSpPr txBox="1"/>
          <p:nvPr/>
        </p:nvSpPr>
        <p:spPr>
          <a:xfrm>
            <a:off x="254000" y="2794000"/>
            <a:ext cx="635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400" b="1">
                <a:solidFill>
                  <a:srgbClr val="1C1C3A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0348C2F-1256-D219-734A-51B54133A0C9}"/>
              </a:ext>
            </a:extLst>
          </p:cNvPr>
          <p:cNvSpPr txBox="1"/>
          <p:nvPr/>
        </p:nvSpPr>
        <p:spPr>
          <a:xfrm>
            <a:off x="1016000" y="2819400"/>
            <a:ext cx="9652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Cenarios para os Proximos 3-5 Anos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48BAA2F-9753-022F-995A-2F3A7F56FE60}"/>
              </a:ext>
            </a:extLst>
          </p:cNvPr>
          <p:cNvSpPr txBox="1"/>
          <p:nvPr/>
        </p:nvSpPr>
        <p:spPr>
          <a:xfrm>
            <a:off x="10795000" y="28194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300" b="1">
                <a:solidFill>
                  <a:srgbClr val="74B9FF"/>
                </a:solidFill>
                <a:latin typeface="Segoe UI" panose="020B0502040204020203" pitchFamily="34" charset="0"/>
              </a:rPr>
              <a:t>10 min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D654D45-A064-0A2E-B237-E56FFF479948}"/>
              </a:ext>
            </a:extLst>
          </p:cNvPr>
          <p:cNvSpPr/>
          <p:nvPr/>
        </p:nvSpPr>
        <p:spPr>
          <a:xfrm>
            <a:off x="254000" y="3302000"/>
            <a:ext cx="635000" cy="457200"/>
          </a:xfrm>
          <a:prstGeom prst="rect">
            <a:avLst/>
          </a:prstGeom>
          <a:solidFill>
            <a:srgbClr val="FD79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E5CD018-D4E9-79E5-6CC3-B87DD55A5DCA}"/>
              </a:ext>
            </a:extLst>
          </p:cNvPr>
          <p:cNvSpPr txBox="1"/>
          <p:nvPr/>
        </p:nvSpPr>
        <p:spPr>
          <a:xfrm>
            <a:off x="254000" y="3378200"/>
            <a:ext cx="635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400" b="1">
                <a:solidFill>
                  <a:srgbClr val="1C1C3A"/>
                </a:solidFill>
                <a:latin typeface="Segoe UI" panose="020B0502040204020203" pitchFamily="34" charset="0"/>
              </a:rPr>
              <a:t>05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764056B-7667-5391-37FC-FF2124978566}"/>
              </a:ext>
            </a:extLst>
          </p:cNvPr>
          <p:cNvSpPr txBox="1"/>
          <p:nvPr/>
        </p:nvSpPr>
        <p:spPr>
          <a:xfrm>
            <a:off x="1016000" y="3403600"/>
            <a:ext cx="9652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Questoes Abertas para o Debate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50F0100-BB87-01E4-F725-289B5DC5E587}"/>
              </a:ext>
            </a:extLst>
          </p:cNvPr>
          <p:cNvSpPr txBox="1"/>
          <p:nvPr/>
        </p:nvSpPr>
        <p:spPr>
          <a:xfrm>
            <a:off x="10795000" y="34036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300" b="1">
                <a:solidFill>
                  <a:srgbClr val="FD79A8"/>
                </a:solidFill>
                <a:latin typeface="Segoe UI" panose="020B0502040204020203" pitchFamily="34" charset="0"/>
              </a:rPr>
              <a:t>10 min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CB72886-5C77-605E-387C-3688C7621842}"/>
              </a:ext>
            </a:extLst>
          </p:cNvPr>
          <p:cNvSpPr/>
          <p:nvPr/>
        </p:nvSpPr>
        <p:spPr>
          <a:xfrm>
            <a:off x="254000" y="3886200"/>
            <a:ext cx="635000" cy="457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BF4854D-64E2-04C2-4786-2AFA1AFE2540}"/>
              </a:ext>
            </a:extLst>
          </p:cNvPr>
          <p:cNvSpPr txBox="1"/>
          <p:nvPr/>
        </p:nvSpPr>
        <p:spPr>
          <a:xfrm>
            <a:off x="254000" y="3962400"/>
            <a:ext cx="635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400" b="1">
                <a:solidFill>
                  <a:srgbClr val="1C1C3A"/>
                </a:solidFill>
                <a:latin typeface="Segoe UI" panose="020B0502040204020203" pitchFamily="34" charset="0"/>
              </a:rPr>
              <a:t>06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D7F8F99-528E-0FBA-B7FC-B6E0454F8175}"/>
              </a:ext>
            </a:extLst>
          </p:cNvPr>
          <p:cNvSpPr txBox="1"/>
          <p:nvPr/>
        </p:nvSpPr>
        <p:spPr>
          <a:xfrm>
            <a:off x="1016000" y="3987800"/>
            <a:ext cx="9652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Encerramento: A Pergunta que Importa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D6625C3-9F25-2B42-E00E-F5C37F8D13A1}"/>
              </a:ext>
            </a:extLst>
          </p:cNvPr>
          <p:cNvSpPr txBox="1"/>
          <p:nvPr/>
        </p:nvSpPr>
        <p:spPr>
          <a:xfrm>
            <a:off x="10795000" y="39878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300" b="1">
                <a:solidFill>
                  <a:srgbClr val="E94560"/>
                </a:solidFill>
                <a:latin typeface="Segoe UI" panose="020B0502040204020203" pitchFamily="34" charset="0"/>
              </a:rPr>
              <a:t>5 min</a:t>
            </a:r>
          </a:p>
        </p:txBody>
      </p:sp>
    </p:spTree>
    <p:extLst>
      <p:ext uri="{BB962C8B-B14F-4D97-AF65-F5344CB8AC3E}">
        <p14:creationId xmlns:p14="http://schemas.microsoft.com/office/powerpoint/2010/main" val="257182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E04EEA0-49E4-EEEE-3182-B8427B1B87F7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0F47CA2-D80E-A746-F4AC-6CC5B7B5FFA4}"/>
              </a:ext>
            </a:extLst>
          </p:cNvPr>
          <p:cNvSpPr txBox="1"/>
          <p:nvPr/>
        </p:nvSpPr>
        <p:spPr>
          <a:xfrm>
            <a:off x="254000" y="1905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E94560"/>
                </a:solidFill>
                <a:latin typeface="Segoe UI" panose="020B0502040204020203" pitchFamily="34" charset="0"/>
              </a:rPr>
              <a:t>BLOCO 1  |  ABERTURA (5 min)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A3837D6-F570-447A-59CC-F831384B2B67}"/>
              </a:ext>
            </a:extLst>
          </p:cNvPr>
          <p:cNvCxnSpPr/>
          <p:nvPr/>
        </p:nvCxnSpPr>
        <p:spPr>
          <a:xfrm>
            <a:off x="254000" y="584200"/>
            <a:ext cx="11684000" cy="0"/>
          </a:xfrm>
          <a:prstGeom prst="line">
            <a:avLst/>
          </a:prstGeom>
          <a:ln w="127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07FDAAC1-79EB-4DA9-482C-ACC526AB7AC6}"/>
              </a:ext>
            </a:extLst>
          </p:cNvPr>
          <p:cNvSpPr txBox="1"/>
          <p:nvPr/>
        </p:nvSpPr>
        <p:spPr>
          <a:xfrm>
            <a:off x="254000" y="698500"/>
            <a:ext cx="116840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000" b="1">
                <a:solidFill>
                  <a:srgbClr val="FFFFFF"/>
                </a:solidFill>
                <a:latin typeface="Segoe UI" panose="020B0502040204020203" pitchFamily="34" charset="0"/>
              </a:rPr>
              <a:t>O Chao Esta Se Movendo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E2A1B84-3527-18A8-E3C0-6CFDB8FD3D23}"/>
              </a:ext>
            </a:extLst>
          </p:cNvPr>
          <p:cNvSpPr/>
          <p:nvPr/>
        </p:nvSpPr>
        <p:spPr>
          <a:xfrm>
            <a:off x="508000" y="1587500"/>
            <a:ext cx="11176000" cy="2095500"/>
          </a:xfrm>
          <a:prstGeom prst="rect">
            <a:avLst/>
          </a:prstGeom>
          <a:solidFill>
            <a:srgbClr val="2A0A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88A7C3C-5421-EFAC-1192-7BD94438C1AA}"/>
              </a:ext>
            </a:extLst>
          </p:cNvPr>
          <p:cNvSpPr txBox="1"/>
          <p:nvPr/>
        </p:nvSpPr>
        <p:spPr>
          <a:xfrm>
            <a:off x="762000" y="16891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>
                <a:solidFill>
                  <a:srgbClr val="E94560"/>
                </a:solidFill>
                <a:latin typeface="Segoe UI" panose="020B0502040204020203" pitchFamily="34" charset="0"/>
              </a:rPr>
              <a:t>"A maior ameaca para uma empresa de software nao e a IA.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ADFEFE4-06FE-B646-155C-B33B8BD2D9B6}"/>
              </a:ext>
            </a:extLst>
          </p:cNvPr>
          <p:cNvSpPr txBox="1"/>
          <p:nvPr/>
        </p:nvSpPr>
        <p:spPr>
          <a:xfrm>
            <a:off x="762000" y="21336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>
                <a:solidFill>
                  <a:srgbClr val="E94560"/>
                </a:solidFill>
                <a:latin typeface="Segoe UI" panose="020B0502040204020203" pitchFamily="34" charset="0"/>
              </a:rPr>
              <a:t>E continuar acreditando que seu produto e software."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65D4CC0-1FFD-087E-F30F-72070F051A80}"/>
              </a:ext>
            </a:extLst>
          </p:cNvPr>
          <p:cNvCxnSpPr/>
          <p:nvPr/>
        </p:nvCxnSpPr>
        <p:spPr>
          <a:xfrm>
            <a:off x="2540000" y="2667000"/>
            <a:ext cx="7112000" cy="0"/>
          </a:xfrm>
          <a:prstGeom prst="line">
            <a:avLst/>
          </a:prstGeom>
          <a:ln w="127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ADDF02F-FEA8-50B0-5C83-CD3719FC3591}"/>
              </a:ext>
            </a:extLst>
          </p:cNvPr>
          <p:cNvSpPr txBox="1"/>
          <p:nvPr/>
        </p:nvSpPr>
        <p:spPr>
          <a:xfrm>
            <a:off x="762000" y="2768600"/>
            <a:ext cx="10668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Intencao: Desestabilizar a zona de conforto desde o inicio.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BE031BA-9BAD-00BA-ECCE-D089460E109E}"/>
              </a:ext>
            </a:extLst>
          </p:cNvPr>
          <p:cNvSpPr txBox="1"/>
          <p:nvPr/>
        </p:nvSpPr>
        <p:spPr>
          <a:xfrm>
            <a:off x="508000" y="3873500"/>
            <a:ext cx="11176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4EC9B0"/>
                </a:solidFill>
                <a:latin typeface="Segoe UI" panose="020B0502040204020203" pitchFamily="34" charset="0"/>
              </a:rPr>
              <a:t>FATOS DE ABERTURA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931FC16-1219-9A2A-98E7-1BE8647E7047}"/>
              </a:ext>
            </a:extLst>
          </p:cNvPr>
          <p:cNvSpPr txBox="1"/>
          <p:nvPr/>
        </p:nvSpPr>
        <p:spPr>
          <a:xfrm>
            <a:off x="508000" y="4165600"/>
            <a:ext cx="11176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FFFFFF"/>
                </a:solidFill>
                <a:latin typeface="Segoe UI" panose="020B0502040204020203" pitchFamily="34" charset="0"/>
              </a:rPr>
              <a:t>&gt;  Em 18 meses (jan/2023 a jun/2024): GitHub Copilot atingiu 1,8 milhao de devs pagantes - a curva de adocao mais rapida da historia da industria.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35AA7C6-0393-21C4-AC82-2C8CE2727243}"/>
              </a:ext>
            </a:extLst>
          </p:cNvPr>
          <p:cNvSpPr txBox="1"/>
          <p:nvPr/>
        </p:nvSpPr>
        <p:spPr>
          <a:xfrm>
            <a:off x="508000" y="4597400"/>
            <a:ext cx="11176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FFFFFF"/>
                </a:solidFill>
                <a:latin typeface="Segoe UI" panose="020B0502040204020203" pitchFamily="34" charset="0"/>
              </a:rPr>
              <a:t>&gt;  McKinsey: 30% das tarefas de desenvolvimento ja podem ser automatizadas com ferramentas de IA disponiveis hoje.</a:t>
            </a:r>
          </a:p>
        </p:txBody>
      </p:sp>
    </p:spTree>
    <p:extLst>
      <p:ext uri="{BB962C8B-B14F-4D97-AF65-F5344CB8AC3E}">
        <p14:creationId xmlns:p14="http://schemas.microsoft.com/office/powerpoint/2010/main" val="2226619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D64C823-8DA2-C269-F5E8-ED160500E9E2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5B5DBB4-93C3-BFF6-8BCF-8EB12DF23977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9EFC915-570A-A648-E594-2958F6B140A0}"/>
              </a:ext>
            </a:extLst>
          </p:cNvPr>
          <p:cNvSpPr txBox="1"/>
          <p:nvPr/>
        </p:nvSpPr>
        <p:spPr>
          <a:xfrm>
            <a:off x="0" y="508000"/>
            <a:ext cx="12192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300" b="1">
                <a:solidFill>
                  <a:srgbClr val="E94560"/>
                </a:solidFill>
                <a:latin typeface="Segoe UI" panose="020B0502040204020203" pitchFamily="34" charset="0"/>
              </a:rPr>
              <a:t>PERGUNTA PARA O PUBLICO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0CEB8D-0FC9-2E70-9940-3FD133B9C304}"/>
              </a:ext>
            </a:extLst>
          </p:cNvPr>
          <p:cNvSpPr txBox="1"/>
          <p:nvPr/>
        </p:nvSpPr>
        <p:spPr>
          <a:xfrm>
            <a:off x="1016000" y="1270000"/>
            <a:ext cx="10160000" cy="76944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200">
                <a:solidFill>
                  <a:srgbClr val="FFFFFF"/>
                </a:solidFill>
                <a:latin typeface="Segoe UI" panose="020B0502040204020203" pitchFamily="34" charset="0"/>
              </a:rPr>
              <a:t>Quantos de voces ja mudaram algum processo, produto ou decisao de investimento por causa da IA generativa?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332504-9F09-1E3F-D339-2E0E7221946A}"/>
              </a:ext>
            </a:extLst>
          </p:cNvPr>
          <p:cNvSpPr txBox="1"/>
          <p:nvPr/>
        </p:nvSpPr>
        <p:spPr>
          <a:xfrm>
            <a:off x="1016000" y="2540000"/>
            <a:ext cx="101600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200">
                <a:solidFill>
                  <a:srgbClr val="CCCCCC"/>
                </a:solidFill>
                <a:latin typeface="Segoe UI" panose="020B0502040204020203" pitchFamily="34" charset="0"/>
              </a:rPr>
              <a:t>Quantos sentem que ainda estao avaliando?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82C1991-61E1-1230-42D2-134D1E6D9BB7}"/>
              </a:ext>
            </a:extLst>
          </p:cNvPr>
          <p:cNvCxnSpPr/>
          <p:nvPr/>
        </p:nvCxnSpPr>
        <p:spPr>
          <a:xfrm>
            <a:off x="3556000" y="3492500"/>
            <a:ext cx="5080000" cy="0"/>
          </a:xfrm>
          <a:prstGeom prst="line">
            <a:avLst/>
          </a:prstGeom>
          <a:ln w="254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7BB941FF-BE77-20B3-D726-EC063112FA4B}"/>
              </a:ext>
            </a:extLst>
          </p:cNvPr>
          <p:cNvSpPr txBox="1"/>
          <p:nvPr/>
        </p:nvSpPr>
        <p:spPr>
          <a:xfrm>
            <a:off x="0" y="3810000"/>
            <a:ext cx="12192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200">
                <a:solidFill>
                  <a:srgbClr val="888888"/>
                </a:solidFill>
                <a:latin typeface="Segoe UI" panose="020B0502040204020203" pitchFamily="34" charset="0"/>
              </a:rPr>
              <a:t>(slide de votacao rapida - sem texto adicional)</a:t>
            </a:r>
          </a:p>
        </p:txBody>
      </p:sp>
    </p:spTree>
    <p:extLst>
      <p:ext uri="{BB962C8B-B14F-4D97-AF65-F5344CB8AC3E}">
        <p14:creationId xmlns:p14="http://schemas.microsoft.com/office/powerpoint/2010/main" val="2923545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8D952D2-35A0-17C5-B013-CCF8F2907389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61B3CF5-DB47-865B-394B-2E19C0BC41E4}"/>
              </a:ext>
            </a:extLst>
          </p:cNvPr>
          <p:cNvSpPr txBox="1"/>
          <p:nvPr/>
        </p:nvSpPr>
        <p:spPr>
          <a:xfrm>
            <a:off x="254000" y="1905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E94560"/>
                </a:solidFill>
                <a:latin typeface="Segoe UI" panose="020B0502040204020203" pitchFamily="34" charset="0"/>
              </a:rPr>
              <a:t>BLOCO 2  |  DADOS E EVIDENCIAS (15 min)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6CA11BAB-0228-ECF8-203E-8831890C970D}"/>
              </a:ext>
            </a:extLst>
          </p:cNvPr>
          <p:cNvCxnSpPr/>
          <p:nvPr/>
        </p:nvCxnSpPr>
        <p:spPr>
          <a:xfrm>
            <a:off x="254000" y="584200"/>
            <a:ext cx="11684000" cy="0"/>
          </a:xfrm>
          <a:prstGeom prst="line">
            <a:avLst/>
          </a:prstGeom>
          <a:ln w="127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9325E1-EB7A-D0F6-054F-EC0AAB5E5CF9}"/>
              </a:ext>
            </a:extLst>
          </p:cNvPr>
          <p:cNvSpPr txBox="1"/>
          <p:nvPr/>
        </p:nvSpPr>
        <p:spPr>
          <a:xfrm>
            <a:off x="254000" y="698500"/>
            <a:ext cx="116840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000" b="1">
                <a:solidFill>
                  <a:srgbClr val="FFFFFF"/>
                </a:solidFill>
                <a:latin typeface="Segoe UI" panose="020B0502040204020203" pitchFamily="34" charset="0"/>
              </a:rPr>
              <a:t>A Velocidade da Rupcao Nao Tem Precedente Historico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606584C-BCFE-DE0A-7D7B-D23050E662E2}"/>
              </a:ext>
            </a:extLst>
          </p:cNvPr>
          <p:cNvSpPr txBox="1"/>
          <p:nvPr/>
        </p:nvSpPr>
        <p:spPr>
          <a:xfrm>
            <a:off x="254000" y="1549400"/>
            <a:ext cx="11684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4EC9B0"/>
                </a:solidFill>
                <a:latin typeface="Segoe UI" panose="020B0502040204020203" pitchFamily="34" charset="0"/>
              </a:rPr>
              <a:t>Tempo ate atingir 100 milhoes de usuarios: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06B5D16-B302-B252-4BF8-C4B238B4DB3C}"/>
              </a:ext>
            </a:extLst>
          </p:cNvPr>
          <p:cNvSpPr/>
          <p:nvPr/>
        </p:nvSpPr>
        <p:spPr>
          <a:xfrm>
            <a:off x="508000" y="1879600"/>
            <a:ext cx="3302000" cy="1206500"/>
          </a:xfrm>
          <a:prstGeom prst="rect">
            <a:avLst/>
          </a:prstGeom>
          <a:solidFill>
            <a:srgbClr val="2D35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9B7CBA9-3F46-B626-D4F9-5822E7096FBB}"/>
              </a:ext>
            </a:extLst>
          </p:cNvPr>
          <p:cNvSpPr txBox="1"/>
          <p:nvPr/>
        </p:nvSpPr>
        <p:spPr>
          <a:xfrm>
            <a:off x="508000" y="19812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400">
                <a:solidFill>
                  <a:srgbClr val="CCCCCC"/>
                </a:solidFill>
                <a:latin typeface="Segoe UI" panose="020B0502040204020203" pitchFamily="34" charset="0"/>
              </a:rPr>
              <a:t>Internet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7C91EE0-6771-1BFB-4E69-E0EA4CA1DCE4}"/>
              </a:ext>
            </a:extLst>
          </p:cNvPr>
          <p:cNvSpPr txBox="1"/>
          <p:nvPr/>
        </p:nvSpPr>
        <p:spPr>
          <a:xfrm>
            <a:off x="508000" y="2311400"/>
            <a:ext cx="3302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600" b="1">
                <a:solidFill>
                  <a:srgbClr val="FFFFFF"/>
                </a:solidFill>
                <a:latin typeface="Segoe UI" panose="020B0502040204020203" pitchFamily="34" charset="0"/>
              </a:rPr>
              <a:t>~7 anos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4AFDE98-5E73-06EE-2142-881F9CA72093}"/>
              </a:ext>
            </a:extLst>
          </p:cNvPr>
          <p:cNvSpPr txBox="1"/>
          <p:nvPr/>
        </p:nvSpPr>
        <p:spPr>
          <a:xfrm>
            <a:off x="508000" y="2768600"/>
            <a:ext cx="3302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888888"/>
                </a:solidFill>
                <a:latin typeface="Segoe UI" panose="020B0502040204020203" pitchFamily="34" charset="0"/>
              </a:rPr>
              <a:t>ate 100M usuarios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A25FD04-FF89-8CD0-AD2F-745B927C946F}"/>
              </a:ext>
            </a:extLst>
          </p:cNvPr>
          <p:cNvSpPr/>
          <p:nvPr/>
        </p:nvSpPr>
        <p:spPr>
          <a:xfrm>
            <a:off x="4318000" y="1879600"/>
            <a:ext cx="3302000" cy="1206500"/>
          </a:xfrm>
          <a:prstGeom prst="rect">
            <a:avLst/>
          </a:prstGeom>
          <a:solidFill>
            <a:srgbClr val="2D35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E7FF119-7AD7-3161-308C-0C1C5F3647BB}"/>
              </a:ext>
            </a:extLst>
          </p:cNvPr>
          <p:cNvSpPr txBox="1"/>
          <p:nvPr/>
        </p:nvSpPr>
        <p:spPr>
          <a:xfrm>
            <a:off x="4318000" y="19812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400">
                <a:solidFill>
                  <a:srgbClr val="CCCCCC"/>
                </a:solidFill>
                <a:latin typeface="Segoe UI" panose="020B0502040204020203" pitchFamily="34" charset="0"/>
              </a:rPr>
              <a:t>Smartphones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08E8855-DECA-2D4B-567E-E990D317C2C1}"/>
              </a:ext>
            </a:extLst>
          </p:cNvPr>
          <p:cNvSpPr txBox="1"/>
          <p:nvPr/>
        </p:nvSpPr>
        <p:spPr>
          <a:xfrm>
            <a:off x="4318000" y="2311400"/>
            <a:ext cx="3302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600" b="1">
                <a:solidFill>
                  <a:srgbClr val="FFFFFF"/>
                </a:solidFill>
                <a:latin typeface="Segoe UI" panose="020B0502040204020203" pitchFamily="34" charset="0"/>
              </a:rPr>
              <a:t>~5 anos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F739135-0D93-353E-E2A3-FE7918028751}"/>
              </a:ext>
            </a:extLst>
          </p:cNvPr>
          <p:cNvSpPr txBox="1"/>
          <p:nvPr/>
        </p:nvSpPr>
        <p:spPr>
          <a:xfrm>
            <a:off x="4318000" y="2768600"/>
            <a:ext cx="3302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888888"/>
                </a:solidFill>
                <a:latin typeface="Segoe UI" panose="020B0502040204020203" pitchFamily="34" charset="0"/>
              </a:rPr>
              <a:t>ate 100M usuarios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D4725BE-53E8-AE0B-7874-BA69E478BEFB}"/>
              </a:ext>
            </a:extLst>
          </p:cNvPr>
          <p:cNvSpPr/>
          <p:nvPr/>
        </p:nvSpPr>
        <p:spPr>
          <a:xfrm>
            <a:off x="8128000" y="1879600"/>
            <a:ext cx="3302000" cy="1206500"/>
          </a:xfrm>
          <a:prstGeom prst="rect">
            <a:avLst/>
          </a:prstGeom>
          <a:solidFill>
            <a:srgbClr val="5C0A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59F39BF-2D2E-D059-7394-FF7A3F613028}"/>
              </a:ext>
            </a:extLst>
          </p:cNvPr>
          <p:cNvSpPr txBox="1"/>
          <p:nvPr/>
        </p:nvSpPr>
        <p:spPr>
          <a:xfrm>
            <a:off x="8128000" y="19812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400">
                <a:solidFill>
                  <a:srgbClr val="CCCCCC"/>
                </a:solidFill>
                <a:latin typeface="Segoe UI" panose="020B0502040204020203" pitchFamily="34" charset="0"/>
              </a:rPr>
              <a:t>ChatGPT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C77CE01-15A7-0F4B-1368-5CCFF9D27851}"/>
              </a:ext>
            </a:extLst>
          </p:cNvPr>
          <p:cNvSpPr txBox="1"/>
          <p:nvPr/>
        </p:nvSpPr>
        <p:spPr>
          <a:xfrm>
            <a:off x="8128000" y="2311400"/>
            <a:ext cx="3302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600" b="1">
                <a:solidFill>
                  <a:srgbClr val="E94560"/>
                </a:solidFill>
                <a:latin typeface="Segoe UI" panose="020B0502040204020203" pitchFamily="34" charset="0"/>
              </a:rPr>
              <a:t>2 meses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A558F44-637D-9FB6-106F-9C6E865814C3}"/>
              </a:ext>
            </a:extLst>
          </p:cNvPr>
          <p:cNvSpPr txBox="1"/>
          <p:nvPr/>
        </p:nvSpPr>
        <p:spPr>
          <a:xfrm>
            <a:off x="8128000" y="2768600"/>
            <a:ext cx="3302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888888"/>
                </a:solidFill>
                <a:latin typeface="Segoe UI" panose="020B0502040204020203" pitchFamily="34" charset="0"/>
              </a:rPr>
              <a:t>ate 100M usuarios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C5EF658-C019-C053-5F55-596CD9833AB9}"/>
              </a:ext>
            </a:extLst>
          </p:cNvPr>
          <p:cNvSpPr txBox="1"/>
          <p:nvPr/>
        </p:nvSpPr>
        <p:spPr>
          <a:xfrm>
            <a:off x="254000" y="3327400"/>
            <a:ext cx="11684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4EC9B0"/>
                </a:solidFill>
                <a:latin typeface="Segoe UI" panose="020B0502040204020203" pitchFamily="34" charset="0"/>
              </a:rPr>
              <a:t>Implicacao estrategica: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32C064B-BCA8-4DDD-8F29-BB83438F2002}"/>
              </a:ext>
            </a:extLst>
          </p:cNvPr>
          <p:cNvSpPr txBox="1"/>
          <p:nvPr/>
        </p:nvSpPr>
        <p:spPr>
          <a:xfrm>
            <a:off x="254000" y="3606800"/>
            <a:ext cx="11684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A janela de adaptacao esta mais curta do que qualquer disrupcao anterior que a industria de software viveu - incluindo mobile e cloud.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7F929EB-832F-B405-3283-37CA45E5A54E}"/>
              </a:ext>
            </a:extLst>
          </p:cNvPr>
          <p:cNvSpPr/>
          <p:nvPr/>
        </p:nvSpPr>
        <p:spPr>
          <a:xfrm>
            <a:off x="254000" y="4381500"/>
            <a:ext cx="11684000" cy="10160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3A2CA61-4AA2-F558-766C-7253FD3C4A8C}"/>
              </a:ext>
            </a:extLst>
          </p:cNvPr>
          <p:cNvSpPr txBox="1"/>
          <p:nvPr/>
        </p:nvSpPr>
        <p:spPr>
          <a:xfrm>
            <a:off x="444500" y="4546600"/>
            <a:ext cx="11303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CCCCCC"/>
                </a:solidFill>
                <a:latin typeface="Segoe UI" panose="020B0502040204020203" pitchFamily="34" charset="0"/>
              </a:rPr>
              <a:t>Nota: Nas transicoes mobile e cloud havia anos para aprender e pivotar. A IA generativa compressa essa janela de forma sem precedente historico.</a:t>
            </a:r>
          </a:p>
        </p:txBody>
      </p:sp>
    </p:spTree>
    <p:extLst>
      <p:ext uri="{BB962C8B-B14F-4D97-AF65-F5344CB8AC3E}">
        <p14:creationId xmlns:p14="http://schemas.microsoft.com/office/powerpoint/2010/main" val="3260964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98564A-196F-04C0-F927-5EB4DDB32D31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B8A070-BA88-6F66-158C-18FEAECB4391}"/>
              </a:ext>
            </a:extLst>
          </p:cNvPr>
          <p:cNvSpPr txBox="1"/>
          <p:nvPr/>
        </p:nvSpPr>
        <p:spPr>
          <a:xfrm>
            <a:off x="254000" y="1905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E94560"/>
                </a:solidFill>
                <a:latin typeface="Segoe UI" panose="020B0502040204020203" pitchFamily="34" charset="0"/>
              </a:rPr>
              <a:t>BLOCO 2  |  DADOS E EVIDENCIAS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204A35C8-CB9C-FB9B-28E1-CBE25FD56455}"/>
              </a:ext>
            </a:extLst>
          </p:cNvPr>
          <p:cNvCxnSpPr/>
          <p:nvPr/>
        </p:nvCxnSpPr>
        <p:spPr>
          <a:xfrm>
            <a:off x="254000" y="584200"/>
            <a:ext cx="11684000" cy="0"/>
          </a:xfrm>
          <a:prstGeom prst="line">
            <a:avLst/>
          </a:prstGeom>
          <a:ln w="127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24BF54B7-9E41-B26F-74BF-E5300A3C06E0}"/>
              </a:ext>
            </a:extLst>
          </p:cNvPr>
          <p:cNvSpPr txBox="1"/>
          <p:nvPr/>
        </p:nvSpPr>
        <p:spPr>
          <a:xfrm>
            <a:off x="254000" y="698500"/>
            <a:ext cx="116840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000" b="1">
                <a:solidFill>
                  <a:srgbClr val="FFFFFF"/>
                </a:solidFill>
                <a:latin typeface="Segoe UI" panose="020B0502040204020203" pitchFamily="34" charset="0"/>
              </a:rPr>
              <a:t>Produtividade do Desenvolvedor: Impacto Mensuravel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4A9CACD-28C2-37C6-8137-FF4227B95987}"/>
              </a:ext>
            </a:extLst>
          </p:cNvPr>
          <p:cNvSpPr/>
          <p:nvPr/>
        </p:nvSpPr>
        <p:spPr>
          <a:xfrm>
            <a:off x="254000" y="1498600"/>
            <a:ext cx="3810000" cy="33020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B4FB7B1-6EEE-3969-59EC-6C1AEE32F5AC}"/>
              </a:ext>
            </a:extLst>
          </p:cNvPr>
          <p:cNvSpPr txBox="1"/>
          <p:nvPr/>
        </p:nvSpPr>
        <p:spPr>
          <a:xfrm>
            <a:off x="254000" y="1625600"/>
            <a:ext cx="3810000" cy="73866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4200" b="1">
                <a:solidFill>
                  <a:srgbClr val="E94560"/>
                </a:solidFill>
                <a:latin typeface="Segoe UI" panose="020B0502040204020203" pitchFamily="34" charset="0"/>
              </a:rPr>
              <a:t>55%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AA89AD9-1614-8C1B-6E89-B15CB8A3D925}"/>
              </a:ext>
            </a:extLst>
          </p:cNvPr>
          <p:cNvSpPr txBox="1"/>
          <p:nvPr/>
        </p:nvSpPr>
        <p:spPr>
          <a:xfrm>
            <a:off x="254000" y="2489200"/>
            <a:ext cx="3810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300">
                <a:solidFill>
                  <a:srgbClr val="4EC9B0"/>
                </a:solidFill>
                <a:latin typeface="Segoe UI" panose="020B0502040204020203" pitchFamily="34" charset="0"/>
              </a:rPr>
              <a:t>mais rapido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5C2241-7697-8DEE-6BBB-04B37A1D7BC6}"/>
              </a:ext>
            </a:extLst>
          </p:cNvPr>
          <p:cNvSpPr txBox="1"/>
          <p:nvPr/>
        </p:nvSpPr>
        <p:spPr>
          <a:xfrm>
            <a:off x="254000" y="2870200"/>
            <a:ext cx="381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F5C518"/>
                </a:solidFill>
                <a:latin typeface="Segoe UI" panose="020B0502040204020203" pitchFamily="34" charset="0"/>
              </a:rPr>
              <a:t>GitHub/Microsoft 2023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7972A2E-8610-68D7-36EF-21820896BACE}"/>
              </a:ext>
            </a:extLst>
          </p:cNvPr>
          <p:cNvSpPr txBox="1"/>
          <p:nvPr/>
        </p:nvSpPr>
        <p:spPr>
          <a:xfrm>
            <a:off x="355600" y="3200400"/>
            <a:ext cx="36068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Devs com Copilot completaram tarefas de codificacao 55% mais rapido em testes controlados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2310324-4377-D7B8-A059-0E7D28773FB5}"/>
              </a:ext>
            </a:extLst>
          </p:cNvPr>
          <p:cNvSpPr/>
          <p:nvPr/>
        </p:nvSpPr>
        <p:spPr>
          <a:xfrm>
            <a:off x="4318000" y="1498600"/>
            <a:ext cx="3810000" cy="33020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B8F87DE-8C7C-7EAF-D16A-F9638EA1D0EB}"/>
              </a:ext>
            </a:extLst>
          </p:cNvPr>
          <p:cNvSpPr txBox="1"/>
          <p:nvPr/>
        </p:nvSpPr>
        <p:spPr>
          <a:xfrm>
            <a:off x="4318000" y="1625600"/>
            <a:ext cx="3810000" cy="73866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4200" b="1">
                <a:solidFill>
                  <a:srgbClr val="E94560"/>
                </a:solidFill>
                <a:latin typeface="Segoe UI" panose="020B0502040204020203" pitchFamily="34" charset="0"/>
              </a:rPr>
              <a:t>25%+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349EFCE-C15A-75DB-58AD-ACCF73CFA2E1}"/>
              </a:ext>
            </a:extLst>
          </p:cNvPr>
          <p:cNvSpPr txBox="1"/>
          <p:nvPr/>
        </p:nvSpPr>
        <p:spPr>
          <a:xfrm>
            <a:off x="4318000" y="2489200"/>
            <a:ext cx="3810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300">
                <a:solidFill>
                  <a:srgbClr val="4EC9B0"/>
                </a:solidFill>
                <a:latin typeface="Segoe UI" panose="020B0502040204020203" pitchFamily="34" charset="0"/>
              </a:rPr>
              <a:t>do codigo novo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62B04B8-1B1F-1392-A2FC-02F3E794AB31}"/>
              </a:ext>
            </a:extLst>
          </p:cNvPr>
          <p:cNvSpPr txBox="1"/>
          <p:nvPr/>
        </p:nvSpPr>
        <p:spPr>
          <a:xfrm>
            <a:off x="4318000" y="2870200"/>
            <a:ext cx="381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F5C518"/>
                </a:solidFill>
                <a:latin typeface="Segoe UI" panose="020B0502040204020203" pitchFamily="34" charset="0"/>
              </a:rPr>
              <a:t>Google 2024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F8C694D-5128-1B83-4D63-F5500302830E}"/>
              </a:ext>
            </a:extLst>
          </p:cNvPr>
          <p:cNvSpPr txBox="1"/>
          <p:nvPr/>
        </p:nvSpPr>
        <p:spPr>
          <a:xfrm>
            <a:off x="4419600" y="3200400"/>
            <a:ext cx="36068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Internamente, IA gera mais de 25% do codigo novo em alguns produtos da empresa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301D153-4E37-6DC4-8CA9-52EFA7FFC3A5}"/>
              </a:ext>
            </a:extLst>
          </p:cNvPr>
          <p:cNvSpPr/>
          <p:nvPr/>
        </p:nvSpPr>
        <p:spPr>
          <a:xfrm>
            <a:off x="8382000" y="1498600"/>
            <a:ext cx="3810000" cy="33020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30AEDF8-F38F-18D6-14D6-49D33A02A932}"/>
              </a:ext>
            </a:extLst>
          </p:cNvPr>
          <p:cNvSpPr txBox="1"/>
          <p:nvPr/>
        </p:nvSpPr>
        <p:spPr>
          <a:xfrm>
            <a:off x="8382000" y="1625600"/>
            <a:ext cx="3810000" cy="73866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4200" b="1">
                <a:solidFill>
                  <a:srgbClr val="E94560"/>
                </a:solidFill>
                <a:latin typeface="Segoe UI" panose="020B0502040204020203" pitchFamily="34" charset="0"/>
              </a:rPr>
              <a:t>20-45%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9CE9F96-9A39-C784-85D4-3CB55B09D4D6}"/>
              </a:ext>
            </a:extLst>
          </p:cNvPr>
          <p:cNvSpPr txBox="1"/>
          <p:nvPr/>
        </p:nvSpPr>
        <p:spPr>
          <a:xfrm>
            <a:off x="8382000" y="2489200"/>
            <a:ext cx="3810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300">
                <a:solidFill>
                  <a:srgbClr val="4EC9B0"/>
                </a:solidFill>
                <a:latin typeface="Segoe UI" panose="020B0502040204020203" pitchFamily="34" charset="0"/>
              </a:rPr>
              <a:t>menos tempo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4BE8002-6C1F-69D7-ECF4-7033B505DCF0}"/>
              </a:ext>
            </a:extLst>
          </p:cNvPr>
          <p:cNvSpPr txBox="1"/>
          <p:nvPr/>
        </p:nvSpPr>
        <p:spPr>
          <a:xfrm>
            <a:off x="8382000" y="2870200"/>
            <a:ext cx="3810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F5C518"/>
                </a:solidFill>
                <a:latin typeface="Segoe UI" panose="020B0502040204020203" pitchFamily="34" charset="0"/>
              </a:rPr>
              <a:t>McKinsey 2024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E3150B8-C1C1-9CBA-80F2-8190BA816171}"/>
              </a:ext>
            </a:extLst>
          </p:cNvPr>
          <p:cNvSpPr txBox="1"/>
          <p:nvPr/>
        </p:nvSpPr>
        <p:spPr>
          <a:xfrm>
            <a:off x="8483600" y="3200400"/>
            <a:ext cx="36068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Reducao no tempo de ciclo de entrega de features em empresas com IA generativa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CF51E49-2DE6-937D-6D13-88F1DB9894B4}"/>
              </a:ext>
            </a:extLst>
          </p:cNvPr>
          <p:cNvSpPr txBox="1"/>
          <p:nvPr/>
        </p:nvSpPr>
        <p:spPr>
          <a:xfrm>
            <a:off x="254000" y="5016500"/>
            <a:ext cx="11684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E94560"/>
                </a:solidFill>
                <a:latin typeface="Segoe UI" panose="020B0502040204020203" pitchFamily="34" charset="0"/>
              </a:rPr>
              <a:t>Tensao: Se o dev e 55% mais produtivo, a empresa precisa de 55% menos devs - ou entrega 55% mais valor? Qual esta se concretizando?</a:t>
            </a:r>
          </a:p>
        </p:txBody>
      </p:sp>
    </p:spTree>
    <p:extLst>
      <p:ext uri="{BB962C8B-B14F-4D97-AF65-F5344CB8AC3E}">
        <p14:creationId xmlns:p14="http://schemas.microsoft.com/office/powerpoint/2010/main" val="3267867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4EF7A70-4E56-8966-8472-D345E2AD3DA1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A60FE68-A4F8-0271-710E-6DF9607E9E74}"/>
              </a:ext>
            </a:extLst>
          </p:cNvPr>
          <p:cNvSpPr txBox="1"/>
          <p:nvPr/>
        </p:nvSpPr>
        <p:spPr>
          <a:xfrm>
            <a:off x="254000" y="1905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E94560"/>
                </a:solidFill>
                <a:latin typeface="Segoe UI" panose="020B0502040204020203" pitchFamily="34" charset="0"/>
              </a:rPr>
              <a:t>BLOCO 2  |  DADOS E EVIDENCIAS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3C7C2FEC-F4CB-3AE0-0134-5DA52B0D8CC4}"/>
              </a:ext>
            </a:extLst>
          </p:cNvPr>
          <p:cNvCxnSpPr/>
          <p:nvPr/>
        </p:nvCxnSpPr>
        <p:spPr>
          <a:xfrm>
            <a:off x="254000" y="584200"/>
            <a:ext cx="11684000" cy="0"/>
          </a:xfrm>
          <a:prstGeom prst="line">
            <a:avLst/>
          </a:prstGeom>
          <a:ln w="127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FC90BE01-A5AD-DE4D-C48C-BD73C081BCD6}"/>
              </a:ext>
            </a:extLst>
          </p:cNvPr>
          <p:cNvSpPr txBox="1"/>
          <p:nvPr/>
        </p:nvSpPr>
        <p:spPr>
          <a:xfrm>
            <a:off x="254000" y="698500"/>
            <a:ext cx="116840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000" b="1">
                <a:solidFill>
                  <a:srgbClr val="FFFFFF"/>
                </a:solidFill>
                <a:latin typeface="Segoe UI" panose="020B0502040204020203" pitchFamily="34" charset="0"/>
              </a:rPr>
              <a:t>O Impacto nos Headcounts Ja E Visivel (2023-2025)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5CAD804-9BB5-BEBD-20B6-24DE9EE44F5F}"/>
              </a:ext>
            </a:extLst>
          </p:cNvPr>
          <p:cNvSpPr/>
          <p:nvPr/>
        </p:nvSpPr>
        <p:spPr>
          <a:xfrm>
            <a:off x="254000" y="1651000"/>
            <a:ext cx="76200" cy="5334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518EA5-3F04-11D5-00D7-20D9F8CACA0E}"/>
              </a:ext>
            </a:extLst>
          </p:cNvPr>
          <p:cNvSpPr txBox="1"/>
          <p:nvPr/>
        </p:nvSpPr>
        <p:spPr>
          <a:xfrm>
            <a:off x="431800" y="1701800"/>
            <a:ext cx="11430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Duolingo, Klarna, IBM e Salesforce anunciaram reducoes de headcount vinculadas a automacao por IA - especialmente suporte, QA e features padronizadas.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D65FE9B-1F2D-9640-EC3A-BB0A7538674F}"/>
              </a:ext>
            </a:extLst>
          </p:cNvPr>
          <p:cNvSpPr/>
          <p:nvPr/>
        </p:nvSpPr>
        <p:spPr>
          <a:xfrm>
            <a:off x="254000" y="2438400"/>
            <a:ext cx="76200" cy="5334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EB8C9EB-BA22-5F56-42A8-B39CEC0659A3}"/>
              </a:ext>
            </a:extLst>
          </p:cNvPr>
          <p:cNvSpPr txBox="1"/>
          <p:nvPr/>
        </p:nvSpPr>
        <p:spPr>
          <a:xfrm>
            <a:off x="431800" y="2489200"/>
            <a:ext cx="11430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Klarna (2024): CEO afirmou que a empresa opera com 700 funcionarios a menos do que precisaria sem IA - economia estimada de ~US$ 40M/ano.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8A53E25-232E-C01D-F45A-ED297622524F}"/>
              </a:ext>
            </a:extLst>
          </p:cNvPr>
          <p:cNvSpPr/>
          <p:nvPr/>
        </p:nvSpPr>
        <p:spPr>
          <a:xfrm>
            <a:off x="254000" y="3225800"/>
            <a:ext cx="76200" cy="5334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7362D36-7A1B-18CE-7347-0F03629BA6F7}"/>
              </a:ext>
            </a:extLst>
          </p:cNvPr>
          <p:cNvSpPr txBox="1"/>
          <p:nvPr/>
        </p:nvSpPr>
        <p:spPr>
          <a:xfrm>
            <a:off x="431800" y="3276600"/>
            <a:ext cx="11430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MIT Sloan (2024): 37% das empresas de software planejam NAO repor posicoes de desenvolvimento encerradas, confiando em ganhos via IA.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D4013CF-F615-7DE0-9173-D519918D50B9}"/>
              </a:ext>
            </a:extLst>
          </p:cNvPr>
          <p:cNvSpPr/>
          <p:nvPr/>
        </p:nvSpPr>
        <p:spPr>
          <a:xfrm>
            <a:off x="254000" y="4165600"/>
            <a:ext cx="11684000" cy="825500"/>
          </a:xfrm>
          <a:prstGeom prst="rect">
            <a:avLst/>
          </a:prstGeom>
          <a:solidFill>
            <a:srgbClr val="1A2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A4062AD-4AC6-6C16-C0BC-4AA5474C6523}"/>
              </a:ext>
            </a:extLst>
          </p:cNvPr>
          <p:cNvSpPr txBox="1"/>
          <p:nvPr/>
        </p:nvSpPr>
        <p:spPr>
          <a:xfrm>
            <a:off x="444500" y="4292600"/>
            <a:ext cx="11303000" cy="4616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4EC9B0"/>
                </a:solidFill>
                <a:latin typeface="Segoe UI" panose="020B0502040204020203" pitchFamily="34" charset="0"/>
              </a:rPr>
              <a:t>Contexto: Esses dados convivem com escassez de talentos senior e crescimento de demanda por IA engineers. O mercado nao esta simplesmente encolhendo - esta se reshaping.</a:t>
            </a:r>
          </a:p>
        </p:txBody>
      </p:sp>
    </p:spTree>
    <p:extLst>
      <p:ext uri="{BB962C8B-B14F-4D97-AF65-F5344CB8AC3E}">
        <p14:creationId xmlns:p14="http://schemas.microsoft.com/office/powerpoint/2010/main" val="735970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09E0ECD-00D2-42D8-D4D8-C84036964AA9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E916192-5B72-BFDD-8C19-A63255F5290D}"/>
              </a:ext>
            </a:extLst>
          </p:cNvPr>
          <p:cNvSpPr txBox="1"/>
          <p:nvPr/>
        </p:nvSpPr>
        <p:spPr>
          <a:xfrm>
            <a:off x="254000" y="1905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E94560"/>
                </a:solidFill>
                <a:latin typeface="Segoe UI" panose="020B0502040204020203" pitchFamily="34" charset="0"/>
              </a:rPr>
              <a:t>BLOCO 2  |  DADOS E EVIDENCIAS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6D102CF0-1C8B-11E4-1D88-81180C4E0CCF}"/>
              </a:ext>
            </a:extLst>
          </p:cNvPr>
          <p:cNvCxnSpPr/>
          <p:nvPr/>
        </p:nvCxnSpPr>
        <p:spPr>
          <a:xfrm>
            <a:off x="254000" y="584200"/>
            <a:ext cx="11684000" cy="0"/>
          </a:xfrm>
          <a:prstGeom prst="line">
            <a:avLst/>
          </a:prstGeom>
          <a:ln w="127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31CBE36A-50C7-4850-7ACE-C198152B960A}"/>
              </a:ext>
            </a:extLst>
          </p:cNvPr>
          <p:cNvSpPr txBox="1"/>
          <p:nvPr/>
        </p:nvSpPr>
        <p:spPr>
          <a:xfrm>
            <a:off x="254000" y="698500"/>
            <a:ext cx="116840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000" b="1">
                <a:solidFill>
                  <a:srgbClr val="FFFFFF"/>
                </a:solidFill>
                <a:latin typeface="Segoe UI" panose="020B0502040204020203" pitchFamily="34" charset="0"/>
              </a:rPr>
              <a:t>O Investimento em IA na Industria de Software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F37804D-62D4-0DC2-4AAF-B41E80FDA7C4}"/>
              </a:ext>
            </a:extLst>
          </p:cNvPr>
          <p:cNvSpPr/>
          <p:nvPr/>
        </p:nvSpPr>
        <p:spPr>
          <a:xfrm>
            <a:off x="254000" y="1587500"/>
            <a:ext cx="11684000" cy="9144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E718807-A56F-7F10-A648-5C9CEF2B18AE}"/>
              </a:ext>
            </a:extLst>
          </p:cNvPr>
          <p:cNvSpPr txBox="1"/>
          <p:nvPr/>
        </p:nvSpPr>
        <p:spPr>
          <a:xfrm>
            <a:off x="381000" y="1714500"/>
            <a:ext cx="4191000" cy="4001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000" b="1">
                <a:solidFill>
                  <a:srgbClr val="E94560"/>
                </a:solidFill>
                <a:latin typeface="Segoe UI" panose="020B0502040204020203" pitchFamily="34" charset="0"/>
              </a:rPr>
              <a:t>US$ 91,9B -&gt; 200B+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99DAF4E-1755-10E7-09CE-187787FD88EB}"/>
              </a:ext>
            </a:extLst>
          </p:cNvPr>
          <p:cNvSpPr txBox="1"/>
          <p:nvPr/>
        </p:nvSpPr>
        <p:spPr>
          <a:xfrm>
            <a:off x="4699000" y="1816100"/>
            <a:ext cx="6223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Investimento global em IA empresarial (2023 -&gt; 2026 projecao)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2807AE6-3849-8179-5465-9BF59808EB3C}"/>
              </a:ext>
            </a:extLst>
          </p:cNvPr>
          <p:cNvSpPr txBox="1"/>
          <p:nvPr/>
        </p:nvSpPr>
        <p:spPr>
          <a:xfrm>
            <a:off x="11112500" y="1917700"/>
            <a:ext cx="69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b="1">
                <a:latin typeface="Segoe UI" panose="020B0502040204020203" pitchFamily="34" charset="0"/>
              </a:rPr>
              <a:t>IDC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A70ABD7-4655-AB11-C31E-DD56A980DEF0}"/>
              </a:ext>
            </a:extLst>
          </p:cNvPr>
          <p:cNvSpPr/>
          <p:nvPr/>
        </p:nvSpPr>
        <p:spPr>
          <a:xfrm>
            <a:off x="254000" y="2679700"/>
            <a:ext cx="11684000" cy="9144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AC0517B-76EF-2272-2ABA-7D45DEAE54C4}"/>
              </a:ext>
            </a:extLst>
          </p:cNvPr>
          <p:cNvSpPr txBox="1"/>
          <p:nvPr/>
        </p:nvSpPr>
        <p:spPr>
          <a:xfrm>
            <a:off x="381000" y="2806700"/>
            <a:ext cx="4191000" cy="4001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000" b="1">
                <a:solidFill>
                  <a:srgbClr val="E94560"/>
                </a:solidFill>
                <a:latin typeface="Segoe UI" panose="020B0502040204020203" pitchFamily="34" charset="0"/>
              </a:rPr>
              <a:t>18% do R&amp;D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ABF8264-9EBF-8537-2B03-9129D284DD96}"/>
              </a:ext>
            </a:extLst>
          </p:cNvPr>
          <p:cNvSpPr txBox="1"/>
          <p:nvPr/>
        </p:nvSpPr>
        <p:spPr>
          <a:xfrm>
            <a:off x="4699000" y="2908300"/>
            <a:ext cx="6223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Destinado a iniciativas de IA pelas top 10 empresas de software em 2024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F103E02-1260-55B1-5ABB-F5E74B5EBFE8}"/>
              </a:ext>
            </a:extLst>
          </p:cNvPr>
          <p:cNvSpPr txBox="1"/>
          <p:nvPr/>
        </p:nvSpPr>
        <p:spPr>
          <a:xfrm>
            <a:off x="11112500" y="3009900"/>
            <a:ext cx="698500" cy="120032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b="1">
                <a:latin typeface="Segoe UI" panose="020B0502040204020203" pitchFamily="34" charset="0"/>
              </a:rPr>
              <a:t>Media big caps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1D306F0-4F9D-14A4-B92C-8DA46F9EC47F}"/>
              </a:ext>
            </a:extLst>
          </p:cNvPr>
          <p:cNvSpPr/>
          <p:nvPr/>
        </p:nvSpPr>
        <p:spPr>
          <a:xfrm>
            <a:off x="254000" y="3771900"/>
            <a:ext cx="11684000" cy="9144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5138B0A-3BA5-4524-B4CA-4063AAAA6854}"/>
              </a:ext>
            </a:extLst>
          </p:cNvPr>
          <p:cNvSpPr txBox="1"/>
          <p:nvPr/>
        </p:nvSpPr>
        <p:spPr>
          <a:xfrm>
            <a:off x="381000" y="3898900"/>
            <a:ext cx="4191000" cy="4001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000" b="1">
                <a:solidFill>
                  <a:srgbClr val="E94560"/>
                </a:solidFill>
                <a:latin typeface="Segoe UI" panose="020B0502040204020203" pitchFamily="34" charset="0"/>
              </a:rPr>
              <a:t>4,2x maior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80805D4-F806-5391-7E2C-00EA341B5070}"/>
              </a:ext>
            </a:extLst>
          </p:cNvPr>
          <p:cNvSpPr txBox="1"/>
          <p:nvPr/>
        </p:nvSpPr>
        <p:spPr>
          <a:xfrm>
            <a:off x="4699000" y="4000500"/>
            <a:ext cx="6223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Valuation de startups AI-native vs. peers sem IA - com receitas comparaveis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94A611A-C062-2E9B-CF60-8FD0744180BB}"/>
              </a:ext>
            </a:extLst>
          </p:cNvPr>
          <p:cNvSpPr txBox="1"/>
          <p:nvPr/>
        </p:nvSpPr>
        <p:spPr>
          <a:xfrm>
            <a:off x="11112500" y="4102100"/>
            <a:ext cx="698500" cy="147732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b="1">
                <a:latin typeface="Segoe UI" panose="020B0502040204020203" pitchFamily="34" charset="0"/>
              </a:rPr>
              <a:t>PitchBook 2024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8429DC8-3F08-143C-09CC-79BE6DE046E4}"/>
              </a:ext>
            </a:extLst>
          </p:cNvPr>
          <p:cNvSpPr txBox="1"/>
          <p:nvPr/>
        </p:nvSpPr>
        <p:spPr>
          <a:xfrm>
            <a:off x="254000" y="5207000"/>
            <a:ext cx="11684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E94560"/>
                </a:solidFill>
                <a:latin typeface="Segoe UI" panose="020B0502040204020203" pitchFamily="34" charset="0"/>
              </a:rPr>
              <a:t>Estamos pagando multiplos por expectativa futura - ou por algo que ja gera vantagem competitiva real hoje?</a:t>
            </a:r>
          </a:p>
        </p:txBody>
      </p:sp>
    </p:spTree>
    <p:extLst>
      <p:ext uri="{BB962C8B-B14F-4D97-AF65-F5344CB8AC3E}">
        <p14:creationId xmlns:p14="http://schemas.microsoft.com/office/powerpoint/2010/main" val="2790490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629A490-0EFA-84F6-1B8A-886AB44364F8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3458C7-CF8B-38F8-9BDA-DA1D0E911E25}"/>
              </a:ext>
            </a:extLst>
          </p:cNvPr>
          <p:cNvSpPr txBox="1"/>
          <p:nvPr/>
        </p:nvSpPr>
        <p:spPr>
          <a:xfrm>
            <a:off x="254000" y="1905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E94560"/>
                </a:solidFill>
                <a:latin typeface="Segoe UI" panose="020B0502040204020203" pitchFamily="34" charset="0"/>
              </a:rPr>
              <a:t>BLOCO 2  |  DADOS E EVIDENCIAS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A7F9DBA9-9B83-A9A1-B13F-E8BFCBBE3909}"/>
              </a:ext>
            </a:extLst>
          </p:cNvPr>
          <p:cNvCxnSpPr/>
          <p:nvPr/>
        </p:nvCxnSpPr>
        <p:spPr>
          <a:xfrm>
            <a:off x="254000" y="584200"/>
            <a:ext cx="11684000" cy="0"/>
          </a:xfrm>
          <a:prstGeom prst="line">
            <a:avLst/>
          </a:prstGeom>
          <a:ln w="127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D8953B9D-4C58-1A6A-0DD0-6FC7AA14E9B7}"/>
              </a:ext>
            </a:extLst>
          </p:cNvPr>
          <p:cNvSpPr txBox="1"/>
          <p:nvPr/>
        </p:nvSpPr>
        <p:spPr>
          <a:xfrm>
            <a:off x="254000" y="698500"/>
            <a:ext cx="116840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000" b="1">
                <a:solidFill>
                  <a:srgbClr val="FFFFFF"/>
                </a:solidFill>
                <a:latin typeface="Segoe UI" panose="020B0502040204020203" pitchFamily="34" charset="0"/>
              </a:rPr>
              <a:t>O Lado da Demanda: O Que os Clientes Querem Agora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216D217-6FCA-08E5-7CDF-20E09993DF52}"/>
              </a:ext>
            </a:extLst>
          </p:cNvPr>
          <p:cNvSpPr/>
          <p:nvPr/>
        </p:nvSpPr>
        <p:spPr>
          <a:xfrm>
            <a:off x="508000" y="1498600"/>
            <a:ext cx="5080000" cy="26670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3743596-7D49-D72F-96F4-F0F67C84B68A}"/>
              </a:ext>
            </a:extLst>
          </p:cNvPr>
          <p:cNvSpPr txBox="1"/>
          <p:nvPr/>
        </p:nvSpPr>
        <p:spPr>
          <a:xfrm>
            <a:off x="508000" y="1625600"/>
            <a:ext cx="5080000" cy="120032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7200" b="1">
                <a:solidFill>
                  <a:srgbClr val="E94560"/>
                </a:solidFill>
                <a:latin typeface="Segoe UI" panose="020B0502040204020203" pitchFamily="34" charset="0"/>
              </a:rPr>
              <a:t>87%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C641E19-F0A4-7178-811D-EC71D5F2D676}"/>
              </a:ext>
            </a:extLst>
          </p:cNvPr>
          <p:cNvSpPr txBox="1"/>
          <p:nvPr/>
        </p:nvSpPr>
        <p:spPr>
          <a:xfrm>
            <a:off x="698500" y="2717800"/>
            <a:ext cx="46990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400">
                <a:solidFill>
                  <a:srgbClr val="FFFFFF"/>
                </a:solidFill>
                <a:latin typeface="Segoe UI" panose="020B0502040204020203" pitchFamily="34" charset="0"/>
              </a:rPr>
              <a:t>dos CIOs afirmam que IA e a prioridade #1 de investimento em tecnologia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71386D0-B9F4-0271-7A28-EB2E3E3734AC}"/>
              </a:ext>
            </a:extLst>
          </p:cNvPr>
          <p:cNvSpPr txBox="1"/>
          <p:nvPr/>
        </p:nvSpPr>
        <p:spPr>
          <a:xfrm>
            <a:off x="698500" y="36322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888888"/>
                </a:solidFill>
                <a:latin typeface="Segoe UI" panose="020B0502040204020203" pitchFamily="34" charset="0"/>
              </a:rPr>
              <a:t>Gartner, 2024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77EA11F-27B9-C743-1614-C5CB19E3FBEE}"/>
              </a:ext>
            </a:extLst>
          </p:cNvPr>
          <p:cNvSpPr/>
          <p:nvPr/>
        </p:nvSpPr>
        <p:spPr>
          <a:xfrm>
            <a:off x="6096000" y="1498600"/>
            <a:ext cx="5588000" cy="26670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0272EB2-FFA6-37CC-AAB3-A043C5A223B3}"/>
              </a:ext>
            </a:extLst>
          </p:cNvPr>
          <p:cNvSpPr txBox="1"/>
          <p:nvPr/>
        </p:nvSpPr>
        <p:spPr>
          <a:xfrm>
            <a:off x="6096000" y="1625600"/>
            <a:ext cx="5588000" cy="120032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7200" b="1">
                <a:solidFill>
                  <a:srgbClr val="4EC9B0"/>
                </a:solidFill>
                <a:latin typeface="Segoe UI" panose="020B0502040204020203" pitchFamily="34" charset="0"/>
              </a:rPr>
              <a:t>62%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B4EE1FE-279A-A79C-3B78-25967AC24A86}"/>
              </a:ext>
            </a:extLst>
          </p:cNvPr>
          <p:cNvSpPr txBox="1"/>
          <p:nvPr/>
        </p:nvSpPr>
        <p:spPr>
          <a:xfrm>
            <a:off x="6286500" y="2717800"/>
            <a:ext cx="52070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400">
                <a:solidFill>
                  <a:srgbClr val="FFFFFF"/>
                </a:solidFill>
                <a:latin typeface="Segoe UI" panose="020B0502040204020203" pitchFamily="34" charset="0"/>
              </a:rPr>
              <a:t>dos compradores enterprise dizem que IA e agora criterio de compra - nao diferencial, mas REQUISITO MINIMO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AB51DB2-9A98-D1AB-64F2-E14B3EF20518}"/>
              </a:ext>
            </a:extLst>
          </p:cNvPr>
          <p:cNvSpPr txBox="1"/>
          <p:nvPr/>
        </p:nvSpPr>
        <p:spPr>
          <a:xfrm>
            <a:off x="6286500" y="3810000"/>
            <a:ext cx="5207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888888"/>
                </a:solidFill>
                <a:latin typeface="Segoe UI" panose="020B0502040204020203" pitchFamily="34" charset="0"/>
              </a:rPr>
              <a:t>Gartner, 2024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F0C7A1D-00B5-9995-D53B-41495513C4A3}"/>
              </a:ext>
            </a:extLst>
          </p:cNvPr>
          <p:cNvSpPr/>
          <p:nvPr/>
        </p:nvSpPr>
        <p:spPr>
          <a:xfrm>
            <a:off x="254000" y="4419600"/>
            <a:ext cx="11684000" cy="736600"/>
          </a:xfrm>
          <a:prstGeom prst="rect">
            <a:avLst/>
          </a:prstGeom>
          <a:solidFill>
            <a:srgbClr val="1C1C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CAA2B75-14E5-8B0A-F195-DCA793C2E1EB}"/>
              </a:ext>
            </a:extLst>
          </p:cNvPr>
          <p:cNvSpPr txBox="1"/>
          <p:nvPr/>
        </p:nvSpPr>
        <p:spPr>
          <a:xfrm>
            <a:off x="444500" y="4572000"/>
            <a:ext cx="1130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b="1">
                <a:solidFill>
                  <a:srgbClr val="F5C518"/>
                </a:solidFill>
                <a:latin typeface="Segoe UI" panose="020B0502040204020203" pitchFamily="34" charset="0"/>
              </a:rPr>
              <a:t>Produto sem IA esta virando commodity - ou pior, legacy.</a:t>
            </a:r>
          </a:p>
        </p:txBody>
      </p:sp>
    </p:spTree>
    <p:extLst>
      <p:ext uri="{BB962C8B-B14F-4D97-AF65-F5344CB8AC3E}">
        <p14:creationId xmlns:p14="http://schemas.microsoft.com/office/powerpoint/2010/main" val="117947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BE243DE-A080-8554-148B-083C160F33AA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5A032AF-D291-5043-E4A5-01AFF3D865A4}"/>
              </a:ext>
            </a:extLst>
          </p:cNvPr>
          <p:cNvSpPr txBox="1"/>
          <p:nvPr/>
        </p:nvSpPr>
        <p:spPr>
          <a:xfrm>
            <a:off x="254000" y="1905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E94560"/>
                </a:solidFill>
                <a:latin typeface="Segoe UI" panose="020B0502040204020203" pitchFamily="34" charset="0"/>
              </a:rPr>
              <a:t>BLOCO 3  |  MODELO DE NEGOCIO (15 min)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29B4C33D-0982-7EDD-03F4-135A9CEEF22A}"/>
              </a:ext>
            </a:extLst>
          </p:cNvPr>
          <p:cNvCxnSpPr/>
          <p:nvPr/>
        </p:nvCxnSpPr>
        <p:spPr>
          <a:xfrm>
            <a:off x="254000" y="584200"/>
            <a:ext cx="11684000" cy="0"/>
          </a:xfrm>
          <a:prstGeom prst="line">
            <a:avLst/>
          </a:prstGeom>
          <a:ln w="127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03B41A37-0F1C-B064-3526-37AE1B81BD29}"/>
              </a:ext>
            </a:extLst>
          </p:cNvPr>
          <p:cNvSpPr txBox="1"/>
          <p:nvPr/>
        </p:nvSpPr>
        <p:spPr>
          <a:xfrm>
            <a:off x="254000" y="698500"/>
            <a:ext cx="116840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000" b="1">
                <a:solidFill>
                  <a:srgbClr val="FFFFFF"/>
                </a:solidFill>
                <a:latin typeface="Segoe UI" panose="020B0502040204020203" pitchFamily="34" charset="0"/>
              </a:rPr>
              <a:t>O Modelo SaaS Como Conhecemos Esta Sendo Questionado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E7DBE75-BD4A-9490-67C9-C3C1769A4A44}"/>
              </a:ext>
            </a:extLst>
          </p:cNvPr>
          <p:cNvSpPr txBox="1"/>
          <p:nvPr/>
        </p:nvSpPr>
        <p:spPr>
          <a:xfrm>
            <a:off x="254000" y="1549400"/>
            <a:ext cx="5334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CCCCCC"/>
                </a:solidFill>
                <a:latin typeface="Segoe UI" panose="020B0502040204020203" pitchFamily="34" charset="0"/>
              </a:rPr>
              <a:t>MODELO TRADICIONAL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C2F83D6-5D24-0A84-2EF7-8F8B7F8C6210}"/>
              </a:ext>
            </a:extLst>
          </p:cNvPr>
          <p:cNvSpPr txBox="1"/>
          <p:nvPr/>
        </p:nvSpPr>
        <p:spPr>
          <a:xfrm>
            <a:off x="254000" y="1879600"/>
            <a:ext cx="5461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AAAAAA"/>
                </a:solidFill>
                <a:latin typeface="Segoe UI" panose="020B0502040204020203" pitchFamily="34" charset="0"/>
              </a:rPr>
              <a:t>o  Assinatura recorrente por seat/usuario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462427E-EC27-BC86-5E9D-9D6266F362A6}"/>
              </a:ext>
            </a:extLst>
          </p:cNvPr>
          <p:cNvSpPr txBox="1"/>
          <p:nvPr/>
        </p:nvSpPr>
        <p:spPr>
          <a:xfrm>
            <a:off x="254000" y="2260600"/>
            <a:ext cx="5461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AAAAAA"/>
                </a:solidFill>
                <a:latin typeface="Segoe UI" panose="020B0502040204020203" pitchFamily="34" charset="0"/>
              </a:rPr>
              <a:t>o  Valor = funcionalidades + UX + integracoes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AC30E24-9B9D-0283-ADEC-E0FF5FFD6643}"/>
              </a:ext>
            </a:extLst>
          </p:cNvPr>
          <p:cNvSpPr txBox="1"/>
          <p:nvPr/>
        </p:nvSpPr>
        <p:spPr>
          <a:xfrm>
            <a:off x="254000" y="2641600"/>
            <a:ext cx="5461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AAAAAA"/>
                </a:solidFill>
                <a:latin typeface="Segoe UI" panose="020B0502040204020203" pitchFamily="34" charset="0"/>
              </a:rPr>
              <a:t>o  Crescimento = mais usuarios + upsell de modulos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1FC9B35-C175-786C-EC42-98A9494AA579}"/>
              </a:ext>
            </a:extLst>
          </p:cNvPr>
          <p:cNvCxnSpPr/>
          <p:nvPr/>
        </p:nvCxnSpPr>
        <p:spPr>
          <a:xfrm>
            <a:off x="5842000" y="1498600"/>
            <a:ext cx="25400" cy="0"/>
          </a:xfrm>
          <a:prstGeom prst="line">
            <a:avLst/>
          </a:prstGeom>
          <a:ln w="12700">
            <a:solidFill>
              <a:srgbClr val="3333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1118959-5C71-41C7-2089-A037216240C1}"/>
              </a:ext>
            </a:extLst>
          </p:cNvPr>
          <p:cNvSpPr txBox="1"/>
          <p:nvPr/>
        </p:nvSpPr>
        <p:spPr>
          <a:xfrm>
            <a:off x="6096000" y="1549400"/>
            <a:ext cx="5842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E94560"/>
                </a:solidFill>
                <a:latin typeface="Segoe UI" panose="020B0502040204020203" pitchFamily="34" charset="0"/>
              </a:rPr>
              <a:t>DESAFIOS DA IA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459F6C3-E41F-789D-3938-F04A0CF79231}"/>
              </a:ext>
            </a:extLst>
          </p:cNvPr>
          <p:cNvSpPr/>
          <p:nvPr/>
        </p:nvSpPr>
        <p:spPr>
          <a:xfrm>
            <a:off x="6096000" y="1854200"/>
            <a:ext cx="279400" cy="2794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F7FC3CA-80F6-5FB1-DE95-8E6E0BB5FBEE}"/>
              </a:ext>
            </a:extLst>
          </p:cNvPr>
          <p:cNvSpPr txBox="1"/>
          <p:nvPr/>
        </p:nvSpPr>
        <p:spPr>
          <a:xfrm>
            <a:off x="6096000" y="1879600"/>
            <a:ext cx="279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b="1"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C8221D6-ECBD-CC53-E75D-2E2208C96592}"/>
              </a:ext>
            </a:extLst>
          </p:cNvPr>
          <p:cNvSpPr txBox="1"/>
          <p:nvPr/>
        </p:nvSpPr>
        <p:spPr>
          <a:xfrm>
            <a:off x="6477000" y="1854200"/>
            <a:ext cx="5461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FFFFFF"/>
                </a:solidFill>
                <a:latin typeface="Segoe UI" panose="020B0502040204020203" pitchFamily="34" charset="0"/>
              </a:rPr>
              <a:t>Agentes substituem usuarios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5C54F3A-C351-268E-0204-860FE4730E77}"/>
              </a:ext>
            </a:extLst>
          </p:cNvPr>
          <p:cNvSpPr txBox="1"/>
          <p:nvPr/>
        </p:nvSpPr>
        <p:spPr>
          <a:xfrm>
            <a:off x="6477000" y="2108200"/>
            <a:ext cx="5461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Se um agente executa tarefas de 10 usuarios, o modelo por seat entra em colapso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B0DA3FB-38A3-0684-2AC7-05CB8E0C5126}"/>
              </a:ext>
            </a:extLst>
          </p:cNvPr>
          <p:cNvSpPr/>
          <p:nvPr/>
        </p:nvSpPr>
        <p:spPr>
          <a:xfrm>
            <a:off x="6096000" y="2565400"/>
            <a:ext cx="279400" cy="2794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F3AA4DB-F7BF-37FA-4DEB-34F02B278EF2}"/>
              </a:ext>
            </a:extLst>
          </p:cNvPr>
          <p:cNvSpPr txBox="1"/>
          <p:nvPr/>
        </p:nvSpPr>
        <p:spPr>
          <a:xfrm>
            <a:off x="6096000" y="2590800"/>
            <a:ext cx="279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b="1"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16F9852-F840-71BD-CFBD-F6884FE9D3B4}"/>
              </a:ext>
            </a:extLst>
          </p:cNvPr>
          <p:cNvSpPr txBox="1"/>
          <p:nvPr/>
        </p:nvSpPr>
        <p:spPr>
          <a:xfrm>
            <a:off x="6477000" y="2565400"/>
            <a:ext cx="5461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FFFFFF"/>
                </a:solidFill>
                <a:latin typeface="Segoe UI" panose="020B0502040204020203" pitchFamily="34" charset="0"/>
              </a:rPr>
              <a:t>Outcome-based pricing emerge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1D3F7BF-E37A-6B50-5066-E56EC60DABA6}"/>
              </a:ext>
            </a:extLst>
          </p:cNvPr>
          <p:cNvSpPr txBox="1"/>
          <p:nvPr/>
        </p:nvSpPr>
        <p:spPr>
          <a:xfrm>
            <a:off x="6477000" y="2819400"/>
            <a:ext cx="54610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Klarna, Salesforce e ServiceNow ja cobram por resultado - por transacao, por caso resolvido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5F7BA32-033C-0A03-3C3A-503FB95E63AF}"/>
              </a:ext>
            </a:extLst>
          </p:cNvPr>
          <p:cNvSpPr/>
          <p:nvPr/>
        </p:nvSpPr>
        <p:spPr>
          <a:xfrm>
            <a:off x="6096000" y="3276600"/>
            <a:ext cx="279400" cy="2794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F13D8D4-D734-4E4D-60E6-B1A9BA3AD775}"/>
              </a:ext>
            </a:extLst>
          </p:cNvPr>
          <p:cNvSpPr txBox="1"/>
          <p:nvPr/>
        </p:nvSpPr>
        <p:spPr>
          <a:xfrm>
            <a:off x="6096000" y="3302000"/>
            <a:ext cx="279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b="1"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874C3A1-A37E-4CB9-FF15-C3C44F148A6C}"/>
              </a:ext>
            </a:extLst>
          </p:cNvPr>
          <p:cNvSpPr txBox="1"/>
          <p:nvPr/>
        </p:nvSpPr>
        <p:spPr>
          <a:xfrm>
            <a:off x="6477000" y="3276600"/>
            <a:ext cx="5461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FFFFFF"/>
                </a:solidFill>
                <a:latin typeface="Segoe UI" panose="020B0502040204020203" pitchFamily="34" charset="0"/>
              </a:rPr>
              <a:t>UX pode ser comoditizada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F73FDDB-17BA-8C87-2051-0C5DF6A86C64}"/>
              </a:ext>
            </a:extLst>
          </p:cNvPr>
          <p:cNvSpPr txBox="1"/>
          <p:nvPr/>
        </p:nvSpPr>
        <p:spPr>
          <a:xfrm>
            <a:off x="6477000" y="3530600"/>
            <a:ext cx="54610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Se o front-end vira interface conversacional, valor migra para dados e logica de negocio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81F658F-EE23-4643-5029-37E31859B3B7}"/>
              </a:ext>
            </a:extLst>
          </p:cNvPr>
          <p:cNvSpPr txBox="1"/>
          <p:nvPr/>
        </p:nvSpPr>
        <p:spPr>
          <a:xfrm>
            <a:off x="254000" y="5308600"/>
            <a:ext cx="11684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E94560"/>
                </a:solidFill>
                <a:latin typeface="Segoe UI" panose="020B0502040204020203" pitchFamily="34" charset="0"/>
              </a:rPr>
              <a:t>Quando o cliente paga pelo uso da IA em vez do acesso ao software, quem fica com o maior valor - o modelo de fundacao, a cloud ou a aplicacao?</a:t>
            </a:r>
          </a:p>
        </p:txBody>
      </p:sp>
    </p:spTree>
    <p:extLst>
      <p:ext uri="{BB962C8B-B14F-4D97-AF65-F5344CB8AC3E}">
        <p14:creationId xmlns:p14="http://schemas.microsoft.com/office/powerpoint/2010/main" val="2599315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C1A9AB4-E69E-7EF8-91D6-C8E75819CEEA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181D73-3775-2FA2-AF2A-8888935D9CBC}"/>
              </a:ext>
            </a:extLst>
          </p:cNvPr>
          <p:cNvSpPr txBox="1"/>
          <p:nvPr/>
        </p:nvSpPr>
        <p:spPr>
          <a:xfrm>
            <a:off x="254000" y="1905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E94560"/>
                </a:solidFill>
                <a:latin typeface="Segoe UI" panose="020B0502040204020203" pitchFamily="34" charset="0"/>
              </a:rPr>
              <a:t>BLOCO 3  |  MODELO DE NEGOCIO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F011B072-1F85-2D8B-FBD3-C7053E543C4F}"/>
              </a:ext>
            </a:extLst>
          </p:cNvPr>
          <p:cNvCxnSpPr/>
          <p:nvPr/>
        </p:nvCxnSpPr>
        <p:spPr>
          <a:xfrm>
            <a:off x="254000" y="584200"/>
            <a:ext cx="11684000" cy="0"/>
          </a:xfrm>
          <a:prstGeom prst="line">
            <a:avLst/>
          </a:prstGeom>
          <a:ln w="127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4E0A5652-1A2A-8962-A438-9FF8E99735A5}"/>
              </a:ext>
            </a:extLst>
          </p:cNvPr>
          <p:cNvSpPr txBox="1"/>
          <p:nvPr/>
        </p:nvSpPr>
        <p:spPr>
          <a:xfrm>
            <a:off x="254000" y="698500"/>
            <a:ext cx="116840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000" b="1">
                <a:solidFill>
                  <a:srgbClr val="FFFFFF"/>
                </a:solidFill>
                <a:latin typeface="Segoe UI" panose="020B0502040204020203" pitchFamily="34" charset="0"/>
              </a:rPr>
              <a:t>A Ameaca dos Modelos de Fundacao Como Plataformas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BD01486-69D5-E501-5D4A-3703AEDB589D}"/>
              </a:ext>
            </a:extLst>
          </p:cNvPr>
          <p:cNvSpPr txBox="1"/>
          <p:nvPr/>
        </p:nvSpPr>
        <p:spPr>
          <a:xfrm>
            <a:off x="254000" y="1498600"/>
            <a:ext cx="11684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OpenAI, Anthropic, Google e Meta estao construindo capacidades que antes eram o diferencial de ISVs especializados: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04108D4-2071-5694-D04F-D6D12BC2656C}"/>
              </a:ext>
            </a:extLst>
          </p:cNvPr>
          <p:cNvSpPr txBox="1"/>
          <p:nvPr/>
        </p:nvSpPr>
        <p:spPr>
          <a:xfrm>
            <a:off x="254000" y="1905000"/>
            <a:ext cx="11684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4EC9B0"/>
                </a:solidFill>
                <a:latin typeface="Segoe UI" panose="020B0502040204020203" pitchFamily="34" charset="0"/>
              </a:rPr>
              <a:t>geracao de codigo  |  analise de documentos  |  suporte ao cliente  |  analise de dados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9EC05E9-DCB7-4564-4DE2-BF4B864D4C73}"/>
              </a:ext>
            </a:extLst>
          </p:cNvPr>
          <p:cNvSpPr/>
          <p:nvPr/>
        </p:nvSpPr>
        <p:spPr>
          <a:xfrm>
            <a:off x="254000" y="2349500"/>
            <a:ext cx="11684000" cy="1270000"/>
          </a:xfrm>
          <a:prstGeom prst="rect">
            <a:avLst/>
          </a:prstGeom>
          <a:solidFill>
            <a:srgbClr val="1A0A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6D8823D-3A75-FFFC-69C6-D37DDAFDB53A}"/>
              </a:ext>
            </a:extLst>
          </p:cNvPr>
          <p:cNvSpPr txBox="1"/>
          <p:nvPr/>
        </p:nvSpPr>
        <p:spPr>
          <a:xfrm>
            <a:off x="444500" y="2451100"/>
            <a:ext cx="11176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F5C518"/>
                </a:solidFill>
                <a:latin typeface="Segoe UI" panose="020B0502040204020203" pitchFamily="34" charset="0"/>
              </a:rPr>
              <a:t>Analogia historica: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054D08A-B147-F2D2-1B2C-633F9522301A}"/>
              </a:ext>
            </a:extLst>
          </p:cNvPr>
          <p:cNvSpPr txBox="1"/>
          <p:nvPr/>
        </p:nvSpPr>
        <p:spPr>
          <a:xfrm>
            <a:off x="444500" y="2730500"/>
            <a:ext cx="11176000" cy="4616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FFFFFF"/>
                </a:solidFill>
                <a:latin typeface="Segoe UI" panose="020B0502040204020203" pitchFamily="34" charset="0"/>
              </a:rPr>
              <a:t>Quando o Excel incorporou tabelas dinamicas, acabou com dezenas de startups de BI. Quando o iOS incorporou mapas, destruiu valor de terceiros. A IA nos modelos de fundacao pode fazer o mesmo em escala muito maior.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549F824-8D76-0446-5A82-01E0CE9739A1}"/>
              </a:ext>
            </a:extLst>
          </p:cNvPr>
          <p:cNvSpPr/>
          <p:nvPr/>
        </p:nvSpPr>
        <p:spPr>
          <a:xfrm>
            <a:off x="254000" y="3835400"/>
            <a:ext cx="11684000" cy="10160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E3624DF-40DB-FD6B-9876-DDD28811D6FA}"/>
              </a:ext>
            </a:extLst>
          </p:cNvPr>
          <p:cNvSpPr txBox="1"/>
          <p:nvPr/>
        </p:nvSpPr>
        <p:spPr>
          <a:xfrm>
            <a:off x="254000" y="3911600"/>
            <a:ext cx="5842000" cy="64633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3600" b="1">
                <a:solidFill>
                  <a:srgbClr val="E94560"/>
                </a:solidFill>
                <a:latin typeface="Segoe UI" panose="020B0502040204020203" pitchFamily="34" charset="0"/>
              </a:rPr>
              <a:t>3.000.000+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D67F1C4-2295-6AB1-BFD2-114A9D03DDE7}"/>
              </a:ext>
            </a:extLst>
          </p:cNvPr>
          <p:cNvSpPr txBox="1"/>
          <p:nvPr/>
        </p:nvSpPr>
        <p:spPr>
          <a:xfrm>
            <a:off x="6096000" y="4038600"/>
            <a:ext cx="5778500" cy="4616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FFFFFF"/>
                </a:solidFill>
                <a:latin typeface="Segoe UI" panose="020B0502040204020203" pitchFamily="34" charset="0"/>
              </a:rPr>
              <a:t>GPTs customizados criados na plataforma OpenAI - essencialmente um ecossistema de micro-SaaS sem codigo, aberto a qualquer usuario ou empresa.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6BEDE78-DB49-C060-F80D-DC4CD221161D}"/>
              </a:ext>
            </a:extLst>
          </p:cNvPr>
          <p:cNvSpPr txBox="1"/>
          <p:nvPr/>
        </p:nvSpPr>
        <p:spPr>
          <a:xfrm>
            <a:off x="254000" y="5105400"/>
            <a:ext cx="11684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E94560"/>
                </a:solidFill>
                <a:latin typeface="Segoe UI" panose="020B0502040204020203" pitchFamily="34" charset="0"/>
              </a:rPr>
              <a:t>Onde termina a plataforma e onde comeca a aplicacao? O mercado ainda nao respondeu.</a:t>
            </a:r>
          </a:p>
        </p:txBody>
      </p:sp>
    </p:spTree>
    <p:extLst>
      <p:ext uri="{BB962C8B-B14F-4D97-AF65-F5344CB8AC3E}">
        <p14:creationId xmlns:p14="http://schemas.microsoft.com/office/powerpoint/2010/main" val="2331281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7AB7FBF-C09E-3ADC-3A6C-13F6979B4CEC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299F569-1132-FC46-4957-7C10EA9C6C0C}"/>
              </a:ext>
            </a:extLst>
          </p:cNvPr>
          <p:cNvSpPr txBox="1"/>
          <p:nvPr/>
        </p:nvSpPr>
        <p:spPr>
          <a:xfrm>
            <a:off x="254000" y="1905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E94560"/>
                </a:solidFill>
                <a:latin typeface="Segoe UI" panose="020B0502040204020203" pitchFamily="34" charset="0"/>
              </a:rPr>
              <a:t>BLOCO 3  |  MODELO DE NEGOCIO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18A1936-EE9A-B3D2-C206-74377DF9A202}"/>
              </a:ext>
            </a:extLst>
          </p:cNvPr>
          <p:cNvCxnSpPr/>
          <p:nvPr/>
        </p:nvCxnSpPr>
        <p:spPr>
          <a:xfrm>
            <a:off x="254000" y="584200"/>
            <a:ext cx="11684000" cy="0"/>
          </a:xfrm>
          <a:prstGeom prst="line">
            <a:avLst/>
          </a:prstGeom>
          <a:ln w="127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063EBB17-336F-D21A-2206-3011350C0438}"/>
              </a:ext>
            </a:extLst>
          </p:cNvPr>
          <p:cNvSpPr txBox="1"/>
          <p:nvPr/>
        </p:nvSpPr>
        <p:spPr>
          <a:xfrm>
            <a:off x="254000" y="698500"/>
            <a:ext cx="116840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000" b="1">
                <a:solidFill>
                  <a:srgbClr val="FFFFFF"/>
                </a:solidFill>
                <a:latin typeface="Segoe UI" panose="020B0502040204020203" pitchFamily="34" charset="0"/>
              </a:rPr>
              <a:t>Software Vertical: Ameacado ou Fortalecido?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F1E4157-2744-3FE3-046A-1C4C31FB1657}"/>
              </a:ext>
            </a:extLst>
          </p:cNvPr>
          <p:cNvSpPr/>
          <p:nvPr/>
        </p:nvSpPr>
        <p:spPr>
          <a:xfrm>
            <a:off x="254000" y="1498600"/>
            <a:ext cx="5778500" cy="381000"/>
          </a:xfrm>
          <a:prstGeom prst="rect">
            <a:avLst/>
          </a:prstGeom>
          <a:solidFill>
            <a:srgbClr val="5C0A0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CE47810-9D8B-6A4D-EB7F-851C380C32F8}"/>
              </a:ext>
            </a:extLst>
          </p:cNvPr>
          <p:cNvSpPr txBox="1"/>
          <p:nvPr/>
        </p:nvSpPr>
        <p:spPr>
          <a:xfrm>
            <a:off x="254000" y="1549400"/>
            <a:ext cx="57785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200" b="1">
                <a:solidFill>
                  <a:srgbClr val="FFFFFF"/>
                </a:solidFill>
                <a:latin typeface="Segoe UI" panose="020B0502040204020203" pitchFamily="34" charset="0"/>
              </a:rPr>
              <a:t>TESE DA AMEACA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F4768CC-58B3-7B74-EB33-F71CFFFC5F31}"/>
              </a:ext>
            </a:extLst>
          </p:cNvPr>
          <p:cNvSpPr/>
          <p:nvPr/>
        </p:nvSpPr>
        <p:spPr>
          <a:xfrm>
            <a:off x="6159500" y="1498600"/>
            <a:ext cx="5778500" cy="381000"/>
          </a:xfrm>
          <a:prstGeom prst="rect">
            <a:avLst/>
          </a:prstGeom>
          <a:solidFill>
            <a:srgbClr val="0A3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5938B63-63E3-3606-88CA-AD7F38AA3534}"/>
              </a:ext>
            </a:extLst>
          </p:cNvPr>
          <p:cNvSpPr txBox="1"/>
          <p:nvPr/>
        </p:nvSpPr>
        <p:spPr>
          <a:xfrm>
            <a:off x="6159500" y="1549400"/>
            <a:ext cx="57785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200" b="1">
                <a:solidFill>
                  <a:srgbClr val="FFFFFF"/>
                </a:solidFill>
                <a:latin typeface="Segoe UI" panose="020B0502040204020203" pitchFamily="34" charset="0"/>
              </a:rPr>
              <a:t>TESE DO FORTALECIMENTO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8A35D2-EBEA-8E33-4BDE-244E9496D2BC}"/>
              </a:ext>
            </a:extLst>
          </p:cNvPr>
          <p:cNvSpPr txBox="1"/>
          <p:nvPr/>
        </p:nvSpPr>
        <p:spPr>
          <a:xfrm>
            <a:off x="317500" y="1930400"/>
            <a:ext cx="56515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CCCCCC"/>
                </a:solidFill>
                <a:latin typeface="Segoe UI" panose="020B0502040204020203" pitchFamily="34" charset="0"/>
              </a:rPr>
              <a:t>x  LLMs genericos ja superam software especializado em muitas tarefas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C609F9B-BDD7-060D-052F-CEF831EDB5DB}"/>
              </a:ext>
            </a:extLst>
          </p:cNvPr>
          <p:cNvSpPr txBox="1"/>
          <p:nvPr/>
        </p:nvSpPr>
        <p:spPr>
          <a:xfrm>
            <a:off x="6223000" y="1930400"/>
            <a:ext cx="56515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CCCCCC"/>
                </a:solidFill>
                <a:latin typeface="Segoe UI" panose="020B0502040204020203" pitchFamily="34" charset="0"/>
              </a:rPr>
              <a:t>v  Dados proprietarios e contexto de dominio sao barreiras reais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E3FC41F-0B3E-296A-BDF0-1B3E81692959}"/>
              </a:ext>
            </a:extLst>
          </p:cNvPr>
          <p:cNvSpPr txBox="1"/>
          <p:nvPr/>
        </p:nvSpPr>
        <p:spPr>
          <a:xfrm>
            <a:off x="317500" y="2565400"/>
            <a:ext cx="56515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CCCCCC"/>
                </a:solidFill>
                <a:latin typeface="Segoe UI" panose="020B0502040204020203" pitchFamily="34" charset="0"/>
              </a:rPr>
              <a:t>x  Custo de criacao de concorrentes IA despenca drasticamente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97F0ADF-FB8A-53EB-897B-70EDC5F0D3B8}"/>
              </a:ext>
            </a:extLst>
          </p:cNvPr>
          <p:cNvSpPr txBox="1"/>
          <p:nvPr/>
        </p:nvSpPr>
        <p:spPr>
          <a:xfrm>
            <a:off x="6223000" y="2565400"/>
            <a:ext cx="56515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CCCCCC"/>
                </a:solidFill>
                <a:latin typeface="Segoe UI" panose="020B0502040204020203" pitchFamily="34" charset="0"/>
              </a:rPr>
              <a:t>v  Regulacao, compliance e confianca favorecem players estabelecidos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A8334A6-2F54-C808-64E1-73377460C3B5}"/>
              </a:ext>
            </a:extLst>
          </p:cNvPr>
          <p:cNvSpPr txBox="1"/>
          <p:nvPr/>
        </p:nvSpPr>
        <p:spPr>
          <a:xfrm>
            <a:off x="317500" y="3200400"/>
            <a:ext cx="56515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CCCCCC"/>
                </a:solidFill>
                <a:latin typeface="Segoe UI" panose="020B0502040204020203" pitchFamily="34" charset="0"/>
              </a:rPr>
              <a:t>x  Clientes consolidam em plataformas, compram menos produtos pontuais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C202057-9638-2263-5165-4B8CA6313955}"/>
              </a:ext>
            </a:extLst>
          </p:cNvPr>
          <p:cNvSpPr txBox="1"/>
          <p:nvPr/>
        </p:nvSpPr>
        <p:spPr>
          <a:xfrm>
            <a:off x="6223000" y="3200400"/>
            <a:ext cx="56515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CCCCCC"/>
                </a:solidFill>
                <a:latin typeface="Segoe UI" panose="020B0502040204020203" pitchFamily="34" charset="0"/>
              </a:rPr>
              <a:t>v  Integracao profunda com workflows cria lock-in legitimo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FD5972A-598F-719F-BA81-C257982433C3}"/>
              </a:ext>
            </a:extLst>
          </p:cNvPr>
          <p:cNvSpPr txBox="1"/>
          <p:nvPr/>
        </p:nvSpPr>
        <p:spPr>
          <a:xfrm>
            <a:off x="254000" y="5270500"/>
            <a:ext cx="11684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4EC9B0"/>
                </a:solidFill>
                <a:latin typeface="Segoe UI" panose="020B0502040204020203" pitchFamily="34" charset="0"/>
              </a:rPr>
              <a:t>Harvey AI (juridico): valuation US$ 1,5B em 2024  |  Veeva Systems: aposta no moat regulatorio  |  Notion AI vs Microsoft Copilot: quem vence quando ambos tem IA?</a:t>
            </a:r>
          </a:p>
        </p:txBody>
      </p:sp>
    </p:spTree>
    <p:extLst>
      <p:ext uri="{BB962C8B-B14F-4D97-AF65-F5344CB8AC3E}">
        <p14:creationId xmlns:p14="http://schemas.microsoft.com/office/powerpoint/2010/main" val="2206858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D3A8D14-BD8B-C3ED-8E95-2A834A1C94F1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76BAF03-47AB-86AD-E075-90333374CE59}"/>
              </a:ext>
            </a:extLst>
          </p:cNvPr>
          <p:cNvSpPr txBox="1"/>
          <p:nvPr/>
        </p:nvSpPr>
        <p:spPr>
          <a:xfrm>
            <a:off x="254000" y="1905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E94560"/>
                </a:solidFill>
                <a:latin typeface="Segoe UI" panose="020B0502040204020203" pitchFamily="34" charset="0"/>
              </a:rPr>
              <a:t>BLOCO 3  |  MODELO DE NEGOCIO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779CEB6-E5E2-52D1-40F7-146BB366DC35}"/>
              </a:ext>
            </a:extLst>
          </p:cNvPr>
          <p:cNvCxnSpPr/>
          <p:nvPr/>
        </p:nvCxnSpPr>
        <p:spPr>
          <a:xfrm>
            <a:off x="254000" y="584200"/>
            <a:ext cx="11684000" cy="0"/>
          </a:xfrm>
          <a:prstGeom prst="line">
            <a:avLst/>
          </a:prstGeom>
          <a:ln w="127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217C132F-F06F-35C5-AFE1-547E8D0B4691}"/>
              </a:ext>
            </a:extLst>
          </p:cNvPr>
          <p:cNvSpPr txBox="1"/>
          <p:nvPr/>
        </p:nvSpPr>
        <p:spPr>
          <a:xfrm>
            <a:off x="254000" y="698500"/>
            <a:ext cx="116840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000" b="1">
                <a:solidFill>
                  <a:srgbClr val="FFFFFF"/>
                </a:solidFill>
                <a:latin typeface="Segoe UI" panose="020B0502040204020203" pitchFamily="34" charset="0"/>
              </a:rPr>
              <a:t>O Risco de Canibalizacao Interna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1317BC7-D394-32A5-FE0A-1A5C3AF0CCFF}"/>
              </a:ext>
            </a:extLst>
          </p:cNvPr>
          <p:cNvSpPr/>
          <p:nvPr/>
        </p:nvSpPr>
        <p:spPr>
          <a:xfrm>
            <a:off x="254000" y="1498600"/>
            <a:ext cx="11684000" cy="1117600"/>
          </a:xfrm>
          <a:prstGeom prst="rect">
            <a:avLst/>
          </a:prstGeom>
          <a:solidFill>
            <a:srgbClr val="1A1A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ADE09EA-ED77-FBFA-6129-24C73E50A38F}"/>
              </a:ext>
            </a:extLst>
          </p:cNvPr>
          <p:cNvSpPr txBox="1"/>
          <p:nvPr/>
        </p:nvSpPr>
        <p:spPr>
          <a:xfrm>
            <a:off x="444500" y="16002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 b="1">
                <a:solidFill>
                  <a:srgbClr val="F5C518"/>
                </a:solidFill>
                <a:latin typeface="Segoe UI" panose="020B0502040204020203" pitchFamily="34" charset="0"/>
              </a:rPr>
              <a:t>O Paradoxo da Adocao de IA para ISVs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8F1F63B-94F4-8B57-EEF2-3A0DF8C6D43E}"/>
              </a:ext>
            </a:extLst>
          </p:cNvPr>
          <p:cNvSpPr txBox="1"/>
          <p:nvPr/>
        </p:nvSpPr>
        <p:spPr>
          <a:xfrm>
            <a:off x="444500" y="19050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Incorporar IA no produto pode REDUZIR o volume de uso cobrado: o usuario precisa de menos interacoes para atingir o mesmo resultado - gerando menos receita, mesmo com mais satisfacao.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45C27EB-F3EB-B174-E0F4-3D27D31DAECF}"/>
              </a:ext>
            </a:extLst>
          </p:cNvPr>
          <p:cNvSpPr/>
          <p:nvPr/>
        </p:nvSpPr>
        <p:spPr>
          <a:xfrm>
            <a:off x="254000" y="2819400"/>
            <a:ext cx="76200" cy="457200"/>
          </a:xfrm>
          <a:prstGeom prst="rect">
            <a:avLst/>
          </a:prstGeom>
          <a:solidFill>
            <a:srgbClr val="F5C5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3860639-E122-1074-8109-6364553DE82A}"/>
              </a:ext>
            </a:extLst>
          </p:cNvPr>
          <p:cNvSpPr txBox="1"/>
          <p:nvPr/>
        </p:nvSpPr>
        <p:spPr>
          <a:xfrm>
            <a:off x="431800" y="2870200"/>
            <a:ext cx="11430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FFFFFF"/>
                </a:solidFill>
                <a:latin typeface="Segoe UI" panose="020B0502040204020203" pitchFamily="34" charset="0"/>
              </a:rPr>
              <a:t>Atendimento com IA resolve tickets 3x mais rapido - se pricing e por ticket ou hora, a receita cai mesmo com o cliente mais satisfeito.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2630606-D0D1-63B6-9130-EEF3BC7822DA}"/>
              </a:ext>
            </a:extLst>
          </p:cNvPr>
          <p:cNvSpPr/>
          <p:nvPr/>
        </p:nvSpPr>
        <p:spPr>
          <a:xfrm>
            <a:off x="254000" y="3429000"/>
            <a:ext cx="76200" cy="457200"/>
          </a:xfrm>
          <a:prstGeom prst="rect">
            <a:avLst/>
          </a:prstGeom>
          <a:solidFill>
            <a:srgbClr val="F5C5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6F609FB-35B7-51B5-B0D3-66AEF9B73D4C}"/>
              </a:ext>
            </a:extLst>
          </p:cNvPr>
          <p:cNvSpPr txBox="1"/>
          <p:nvPr/>
        </p:nvSpPr>
        <p:spPr>
          <a:xfrm>
            <a:off x="431800" y="3479800"/>
            <a:ext cx="11430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FFFFFF"/>
                </a:solidFill>
                <a:latin typeface="Segoe UI" panose="020B0502040204020203" pitchFamily="34" charset="0"/>
              </a:rPr>
              <a:t>Empresas de RH-tech reportam reducao de 30-40% no volume de transacoes manuais apos IA - sem reducao equivalente no preco pago.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01036C0-46EA-2CE8-E565-99958683168A}"/>
              </a:ext>
            </a:extLst>
          </p:cNvPr>
          <p:cNvSpPr/>
          <p:nvPr/>
        </p:nvSpPr>
        <p:spPr>
          <a:xfrm>
            <a:off x="254000" y="4038600"/>
            <a:ext cx="76200" cy="457200"/>
          </a:xfrm>
          <a:prstGeom prst="rect">
            <a:avLst/>
          </a:prstGeom>
          <a:solidFill>
            <a:srgbClr val="F5C5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21E6601-AD99-884D-7C32-DF52E5C9BD67}"/>
              </a:ext>
            </a:extLst>
          </p:cNvPr>
          <p:cNvSpPr txBox="1"/>
          <p:nvPr/>
        </p:nvSpPr>
        <p:spPr>
          <a:xfrm>
            <a:off x="431800" y="4089400"/>
            <a:ext cx="11430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FFFFFF"/>
                </a:solidFill>
                <a:latin typeface="Segoe UI" panose="020B0502040204020203" pitchFamily="34" charset="0"/>
              </a:rPr>
              <a:t>Plataformas de e-discovery juridico: IA reduziu horas faturadas de revisao em 60% - redistribuindo valor da plataforma para o cliente.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8D0F043-F00B-9AFD-7DBD-47F425E22053}"/>
              </a:ext>
            </a:extLst>
          </p:cNvPr>
          <p:cNvSpPr txBox="1"/>
          <p:nvPr/>
        </p:nvSpPr>
        <p:spPr>
          <a:xfrm>
            <a:off x="254000" y="5105400"/>
            <a:ext cx="11684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400">
                <a:solidFill>
                  <a:srgbClr val="E94560"/>
                </a:solidFill>
                <a:latin typeface="Segoe UI" panose="020B0502040204020203" pitchFamily="34" charset="0"/>
              </a:rPr>
              <a:t>Como precificar inteligencia que, ao ser bem-sucedida, faz o cliente precisar menos de voce?</a:t>
            </a:r>
          </a:p>
        </p:txBody>
      </p:sp>
    </p:spTree>
    <p:extLst>
      <p:ext uri="{BB962C8B-B14F-4D97-AF65-F5344CB8AC3E}">
        <p14:creationId xmlns:p14="http://schemas.microsoft.com/office/powerpoint/2010/main" val="600674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80C88FF-42AD-1FDC-6052-A4114F789350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1C9DF82-5822-47F9-D6CE-9EF5FBDFF965}"/>
              </a:ext>
            </a:extLst>
          </p:cNvPr>
          <p:cNvSpPr txBox="1"/>
          <p:nvPr/>
        </p:nvSpPr>
        <p:spPr>
          <a:xfrm>
            <a:off x="254000" y="1905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E94560"/>
                </a:solidFill>
                <a:latin typeface="Segoe UI" panose="020B0502040204020203" pitchFamily="34" charset="0"/>
              </a:rPr>
              <a:t>BLOCO 3  |  MODELO DE NEGOCIO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A68F774F-2884-B2F7-FE8E-A0272AA79DD2}"/>
              </a:ext>
            </a:extLst>
          </p:cNvPr>
          <p:cNvCxnSpPr/>
          <p:nvPr/>
        </p:nvCxnSpPr>
        <p:spPr>
          <a:xfrm>
            <a:off x="254000" y="584200"/>
            <a:ext cx="11684000" cy="0"/>
          </a:xfrm>
          <a:prstGeom prst="line">
            <a:avLst/>
          </a:prstGeom>
          <a:ln w="127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625C7945-05D3-05A8-965A-3008281214BA}"/>
              </a:ext>
            </a:extLst>
          </p:cNvPr>
          <p:cNvSpPr txBox="1"/>
          <p:nvPr/>
        </p:nvSpPr>
        <p:spPr>
          <a:xfrm>
            <a:off x="254000" y="698500"/>
            <a:ext cx="116840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000" b="1">
                <a:solidFill>
                  <a:srgbClr val="FFFFFF"/>
                </a:solidFill>
                <a:latin typeface="Segoe UI" panose="020B0502040204020203" pitchFamily="34" charset="0"/>
              </a:rPr>
              <a:t>Custos de Infraestrutura: A Equacao Que Ainda Nao Fechou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E5A39D7-6F1B-D9D8-8038-447D0E7DD499}"/>
              </a:ext>
            </a:extLst>
          </p:cNvPr>
          <p:cNvSpPr/>
          <p:nvPr/>
        </p:nvSpPr>
        <p:spPr>
          <a:xfrm>
            <a:off x="254000" y="1498600"/>
            <a:ext cx="3556000" cy="26670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50FD55B-E786-C9C9-D2CA-4B9584350405}"/>
              </a:ext>
            </a:extLst>
          </p:cNvPr>
          <p:cNvSpPr txBox="1"/>
          <p:nvPr/>
        </p:nvSpPr>
        <p:spPr>
          <a:xfrm>
            <a:off x="254000" y="1625600"/>
            <a:ext cx="3556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600" b="1">
                <a:solidFill>
                  <a:srgbClr val="E94560"/>
                </a:solidFill>
                <a:latin typeface="Segoe UI" panose="020B0502040204020203" pitchFamily="34" charset="0"/>
              </a:rPr>
              <a:t>100-1000x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3661506-018F-672F-5029-98C691865556}"/>
              </a:ext>
            </a:extLst>
          </p:cNvPr>
          <p:cNvSpPr txBox="1"/>
          <p:nvPr/>
        </p:nvSpPr>
        <p:spPr>
          <a:xfrm>
            <a:off x="355600" y="2438400"/>
            <a:ext cx="33528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custo por query de LLM vs. request de API convencional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9C20DA6-039C-3F9E-C06E-725C4107C0B9}"/>
              </a:ext>
            </a:extLst>
          </p:cNvPr>
          <p:cNvSpPr/>
          <p:nvPr/>
        </p:nvSpPr>
        <p:spPr>
          <a:xfrm>
            <a:off x="4064000" y="1498600"/>
            <a:ext cx="3556000" cy="26670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CA4A0B5-997E-1460-AA74-9B35FAEF47CB}"/>
              </a:ext>
            </a:extLst>
          </p:cNvPr>
          <p:cNvSpPr txBox="1"/>
          <p:nvPr/>
        </p:nvSpPr>
        <p:spPr>
          <a:xfrm>
            <a:off x="4064000" y="1625600"/>
            <a:ext cx="3556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600" b="1">
                <a:solidFill>
                  <a:srgbClr val="E94560"/>
                </a:solidFill>
                <a:latin typeface="Segoe UI" panose="020B0502040204020203" pitchFamily="34" charset="0"/>
              </a:rPr>
              <a:t>15-40%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51F943D-4431-BAFA-97A5-D58DB6A4E1D0}"/>
              </a:ext>
            </a:extLst>
          </p:cNvPr>
          <p:cNvSpPr txBox="1"/>
          <p:nvPr/>
        </p:nvSpPr>
        <p:spPr>
          <a:xfrm>
            <a:off x="4165600" y="2438400"/>
            <a:ext cx="33528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aumento de custos de infra sem repasse proporcional ao cliente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55C947D-42A3-9A44-38A5-0BDB79869057}"/>
              </a:ext>
            </a:extLst>
          </p:cNvPr>
          <p:cNvSpPr/>
          <p:nvPr/>
        </p:nvSpPr>
        <p:spPr>
          <a:xfrm>
            <a:off x="7874000" y="1498600"/>
            <a:ext cx="4064000" cy="26670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A11097C-13FE-1319-836D-4013EFEDB50C}"/>
              </a:ext>
            </a:extLst>
          </p:cNvPr>
          <p:cNvSpPr txBox="1"/>
          <p:nvPr/>
        </p:nvSpPr>
        <p:spPr>
          <a:xfrm>
            <a:off x="7874000" y="1625600"/>
            <a:ext cx="4064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600" b="1">
                <a:solidFill>
                  <a:srgbClr val="E94560"/>
                </a:solidFill>
                <a:latin typeface="Segoe UI" panose="020B0502040204020203" pitchFamily="34" charset="0"/>
              </a:rPr>
              <a:t>Custo &gt; Receita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3C4DBB6-2636-3AB0-89E0-06CFC837A58B}"/>
              </a:ext>
            </a:extLst>
          </p:cNvPr>
          <p:cNvSpPr txBox="1"/>
          <p:nvPr/>
        </p:nvSpPr>
        <p:spPr>
          <a:xfrm>
            <a:off x="7975600" y="2438400"/>
            <a:ext cx="3860800" cy="60016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Microsoft: custo de infra do Copilot M365 era maior que a receita nos primeiros meses. Equacao so fecha com escala muito alta.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ACABD24-6F29-B7FA-3ACA-C5A7A3D94D55}"/>
              </a:ext>
            </a:extLst>
          </p:cNvPr>
          <p:cNvSpPr/>
          <p:nvPr/>
        </p:nvSpPr>
        <p:spPr>
          <a:xfrm>
            <a:off x="254000" y="4419600"/>
            <a:ext cx="11684000" cy="698500"/>
          </a:xfrm>
          <a:prstGeom prst="rect">
            <a:avLst/>
          </a:prstGeom>
          <a:solidFill>
            <a:srgbClr val="1A0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DB38159-B6BA-3758-9847-698E457B6625}"/>
              </a:ext>
            </a:extLst>
          </p:cNvPr>
          <p:cNvSpPr txBox="1"/>
          <p:nvPr/>
        </p:nvSpPr>
        <p:spPr>
          <a:xfrm>
            <a:off x="444500" y="4546600"/>
            <a:ext cx="11303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FFFFFF"/>
                </a:solidFill>
                <a:latin typeface="Segoe UI" panose="020B0502040204020203" pitchFamily="34" charset="0"/>
              </a:rPr>
              <a:t>A corrida por IA gratuita no produto esta comprimindo margens em toda a industria - favorecendo gigantes e dificultando competicao de mid-market ISVs.</a:t>
            </a:r>
          </a:p>
        </p:txBody>
      </p:sp>
    </p:spTree>
    <p:extLst>
      <p:ext uri="{BB962C8B-B14F-4D97-AF65-F5344CB8AC3E}">
        <p14:creationId xmlns:p14="http://schemas.microsoft.com/office/powerpoint/2010/main" val="1088574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49350CC-FEE7-BF7A-B66D-70E90C817618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9DC6A9C-EDDC-753E-B229-1BFA9544CB3D}"/>
              </a:ext>
            </a:extLst>
          </p:cNvPr>
          <p:cNvSpPr txBox="1"/>
          <p:nvPr/>
        </p:nvSpPr>
        <p:spPr>
          <a:xfrm>
            <a:off x="254000" y="1905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E94560"/>
                </a:solidFill>
                <a:latin typeface="Segoe UI" panose="020B0502040204020203" pitchFamily="34" charset="0"/>
              </a:rPr>
              <a:t>BLOCO 4  |  CENARIOS 3-5 ANOS (10 min)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3C16C077-B7C4-639C-C084-226EF8962858}"/>
              </a:ext>
            </a:extLst>
          </p:cNvPr>
          <p:cNvCxnSpPr/>
          <p:nvPr/>
        </p:nvCxnSpPr>
        <p:spPr>
          <a:xfrm>
            <a:off x="254000" y="584200"/>
            <a:ext cx="11684000" cy="0"/>
          </a:xfrm>
          <a:prstGeom prst="line">
            <a:avLst/>
          </a:prstGeom>
          <a:ln w="127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A7DB62E4-E49B-23CE-4B78-0F650B09EFBF}"/>
              </a:ext>
            </a:extLst>
          </p:cNvPr>
          <p:cNvSpPr txBox="1"/>
          <p:nvPr/>
        </p:nvSpPr>
        <p:spPr>
          <a:xfrm>
            <a:off x="254000" y="698500"/>
            <a:ext cx="116840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000" b="1">
                <a:solidFill>
                  <a:srgbClr val="FFFFFF"/>
                </a:solidFill>
                <a:latin typeface="Segoe UI" panose="020B0502040204020203" pitchFamily="34" charset="0"/>
              </a:rPr>
              <a:t>Cenario A - A Consolidacao Acelerada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85FF4B4-1DF8-4BE5-4B26-988D238DA0CB}"/>
              </a:ext>
            </a:extLst>
          </p:cNvPr>
          <p:cNvSpPr/>
          <p:nvPr/>
        </p:nvSpPr>
        <p:spPr>
          <a:xfrm>
            <a:off x="254000" y="1498600"/>
            <a:ext cx="1016000" cy="3556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0EFB3C8-42AE-189C-C6EB-0FF81034203E}"/>
              </a:ext>
            </a:extLst>
          </p:cNvPr>
          <p:cNvSpPr txBox="1"/>
          <p:nvPr/>
        </p:nvSpPr>
        <p:spPr>
          <a:xfrm>
            <a:off x="254000" y="1549400"/>
            <a:ext cx="1016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FFFFFF"/>
                </a:solidFill>
                <a:latin typeface="Segoe UI" panose="020B0502040204020203" pitchFamily="34" charset="0"/>
              </a:rPr>
              <a:t>PROB.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D1E9385-D8DF-6138-D9BE-7FE22419C945}"/>
              </a:ext>
            </a:extLst>
          </p:cNvPr>
          <p:cNvSpPr/>
          <p:nvPr/>
        </p:nvSpPr>
        <p:spPr>
          <a:xfrm>
            <a:off x="1371600" y="1498600"/>
            <a:ext cx="3556000" cy="355600"/>
          </a:xfrm>
          <a:prstGeom prst="rect">
            <a:avLst/>
          </a:prstGeom>
          <a:solidFill>
            <a:srgbClr val="2A10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A5B44B0-392D-9CE6-3C4D-D583F910527B}"/>
              </a:ext>
            </a:extLst>
          </p:cNvPr>
          <p:cNvSpPr txBox="1"/>
          <p:nvPr/>
        </p:nvSpPr>
        <p:spPr>
          <a:xfrm>
            <a:off x="1371600" y="1549400"/>
            <a:ext cx="3556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E94560"/>
                </a:solidFill>
                <a:latin typeface="Segoe UI" panose="020B0502040204020203" pitchFamily="34" charset="0"/>
              </a:rPr>
              <a:t>Moderada-Alta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3337622-5C08-0547-3910-74EC7334A565}"/>
              </a:ext>
            </a:extLst>
          </p:cNvPr>
          <p:cNvSpPr txBox="1"/>
          <p:nvPr/>
        </p:nvSpPr>
        <p:spPr>
          <a:xfrm>
            <a:off x="254000" y="2006600"/>
            <a:ext cx="11684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Os grandes players (Microsoft, Google, Salesforce, SAP) incorporam IA como feature padrao e consolidam market share. ISVs de mid-market sem diferenciacao sao adquiridos ou ficam obsoletos.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B81D969-1488-0243-43C7-62F442303F83}"/>
              </a:ext>
            </a:extLst>
          </p:cNvPr>
          <p:cNvSpPr/>
          <p:nvPr/>
        </p:nvSpPr>
        <p:spPr>
          <a:xfrm>
            <a:off x="254000" y="2768600"/>
            <a:ext cx="5588000" cy="1879600"/>
          </a:xfrm>
          <a:prstGeom prst="rect">
            <a:avLst/>
          </a:prstGeom>
          <a:solidFill>
            <a:srgbClr val="0A1A0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CD8FC09-C4BE-5B34-B7AB-5C49D5A2D4A0}"/>
              </a:ext>
            </a:extLst>
          </p:cNvPr>
          <p:cNvSpPr txBox="1"/>
          <p:nvPr/>
        </p:nvSpPr>
        <p:spPr>
          <a:xfrm>
            <a:off x="381000" y="2870200"/>
            <a:ext cx="5334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4EC9B0"/>
                </a:solidFill>
                <a:latin typeface="Segoe UI" panose="020B0502040204020203" pitchFamily="34" charset="0"/>
              </a:rPr>
              <a:t>VENCEDORES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578858A-E907-E3FB-06A7-199880AFC697}"/>
              </a:ext>
            </a:extLst>
          </p:cNvPr>
          <p:cNvSpPr txBox="1"/>
          <p:nvPr/>
        </p:nvSpPr>
        <p:spPr>
          <a:xfrm>
            <a:off x="381000" y="3175000"/>
            <a:ext cx="5334000" cy="64633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FFFFFF"/>
                </a:solidFill>
                <a:latin typeface="Segoe UI" panose="020B0502040204020203" pitchFamily="34" charset="0"/>
              </a:rPr>
              <a:t>&gt;  Hyperscalers e plataformas horizontais
&gt;  Verticais com dados proprietarios unicos
&gt;  Players com moat regulatorio forte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E2596B-C393-DBA9-394C-D6EC99CABE8F}"/>
              </a:ext>
            </a:extLst>
          </p:cNvPr>
          <p:cNvSpPr/>
          <p:nvPr/>
        </p:nvSpPr>
        <p:spPr>
          <a:xfrm>
            <a:off x="6096000" y="2768600"/>
            <a:ext cx="5842000" cy="1879600"/>
          </a:xfrm>
          <a:prstGeom prst="rect">
            <a:avLst/>
          </a:prstGeom>
          <a:solidFill>
            <a:srgbClr val="1A0A0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1D7E52F-64DD-CE9D-CCCB-81F34A388E07}"/>
              </a:ext>
            </a:extLst>
          </p:cNvPr>
          <p:cNvSpPr txBox="1"/>
          <p:nvPr/>
        </p:nvSpPr>
        <p:spPr>
          <a:xfrm>
            <a:off x="6223000" y="2870200"/>
            <a:ext cx="5588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E94560"/>
                </a:solidFill>
                <a:latin typeface="Segoe UI" panose="020B0502040204020203" pitchFamily="34" charset="0"/>
              </a:rPr>
              <a:t>PERDEDORES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B7102B8-6DCB-DE53-40E2-8EC1696A4DBA}"/>
              </a:ext>
            </a:extLst>
          </p:cNvPr>
          <p:cNvSpPr txBox="1"/>
          <p:nvPr/>
        </p:nvSpPr>
        <p:spPr>
          <a:xfrm>
            <a:off x="6223000" y="3175000"/>
            <a:ext cx="5588000" cy="64633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FFFFFF"/>
                </a:solidFill>
                <a:latin typeface="Segoe UI" panose="020B0502040204020203" pitchFamily="34" charset="0"/>
              </a:rPr>
              <a:t>&gt;  Software generico sem moat de dados
&gt;  Ferramentas ponto-a-ponto sem integracao
&gt;  Mid-market ISVs sem diferenciacao clara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93A975F-E5E2-DD90-6E85-6BF4EB15635E}"/>
              </a:ext>
            </a:extLst>
          </p:cNvPr>
          <p:cNvSpPr txBox="1"/>
          <p:nvPr/>
        </p:nvSpPr>
        <p:spPr>
          <a:xfrm>
            <a:off x="254000" y="4889500"/>
            <a:ext cx="11684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5C518"/>
                </a:solidFill>
                <a:latin typeface="Segoe UI" panose="020B0502040204020203" pitchFamily="34" charset="0"/>
              </a:rPr>
              <a:t>Mercado encolhe em numero de empresas, mas cresce em valor agregado por empresa.</a:t>
            </a:r>
          </a:p>
        </p:txBody>
      </p:sp>
    </p:spTree>
    <p:extLst>
      <p:ext uri="{BB962C8B-B14F-4D97-AF65-F5344CB8AC3E}">
        <p14:creationId xmlns:p14="http://schemas.microsoft.com/office/powerpoint/2010/main" val="2378522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A1ED922-741D-F562-9F98-567A3B058BD5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3446896-4857-2D7F-B241-1790406C5B54}"/>
              </a:ext>
            </a:extLst>
          </p:cNvPr>
          <p:cNvSpPr txBox="1"/>
          <p:nvPr/>
        </p:nvSpPr>
        <p:spPr>
          <a:xfrm>
            <a:off x="254000" y="1905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E94560"/>
                </a:solidFill>
                <a:latin typeface="Segoe UI" panose="020B0502040204020203" pitchFamily="34" charset="0"/>
              </a:rPr>
              <a:t>BLOCO 4  |  CENARIOS 3-5 ANOS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04D743F3-574F-7AD2-1548-6D5C90A81E58}"/>
              </a:ext>
            </a:extLst>
          </p:cNvPr>
          <p:cNvCxnSpPr/>
          <p:nvPr/>
        </p:nvCxnSpPr>
        <p:spPr>
          <a:xfrm>
            <a:off x="254000" y="584200"/>
            <a:ext cx="11684000" cy="0"/>
          </a:xfrm>
          <a:prstGeom prst="line">
            <a:avLst/>
          </a:prstGeom>
          <a:ln w="127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6A156B60-F3C6-0E81-3B76-A40DD22EAD6C}"/>
              </a:ext>
            </a:extLst>
          </p:cNvPr>
          <p:cNvSpPr txBox="1"/>
          <p:nvPr/>
        </p:nvSpPr>
        <p:spPr>
          <a:xfrm>
            <a:off x="254000" y="698500"/>
            <a:ext cx="116840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000" b="1">
                <a:solidFill>
                  <a:srgbClr val="FFFFFF"/>
                </a:solidFill>
                <a:latin typeface="Segoe UI" panose="020B0502040204020203" pitchFamily="34" charset="0"/>
              </a:rPr>
              <a:t>Cenario B - A Explosao do Software Vertical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8BB2C69-763E-E888-E7C7-7B3CB04E9435}"/>
              </a:ext>
            </a:extLst>
          </p:cNvPr>
          <p:cNvSpPr/>
          <p:nvPr/>
        </p:nvSpPr>
        <p:spPr>
          <a:xfrm>
            <a:off x="254000" y="1498600"/>
            <a:ext cx="1016000" cy="355600"/>
          </a:xfrm>
          <a:prstGeom prst="rect">
            <a:avLst/>
          </a:prstGeom>
          <a:solidFill>
            <a:srgbClr val="4EC9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B289682-FA38-873D-A10C-C51E28C207C2}"/>
              </a:ext>
            </a:extLst>
          </p:cNvPr>
          <p:cNvSpPr txBox="1"/>
          <p:nvPr/>
        </p:nvSpPr>
        <p:spPr>
          <a:xfrm>
            <a:off x="254000" y="1549400"/>
            <a:ext cx="1016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1C1C3A"/>
                </a:solidFill>
                <a:latin typeface="Segoe UI" panose="020B0502040204020203" pitchFamily="34" charset="0"/>
              </a:rPr>
              <a:t>PROB.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63C3E1E-77A0-9D00-8391-6980FDC4D536}"/>
              </a:ext>
            </a:extLst>
          </p:cNvPr>
          <p:cNvSpPr/>
          <p:nvPr/>
        </p:nvSpPr>
        <p:spPr>
          <a:xfrm>
            <a:off x="1371600" y="1498600"/>
            <a:ext cx="2540000" cy="355600"/>
          </a:xfrm>
          <a:prstGeom prst="rect">
            <a:avLst/>
          </a:prstGeom>
          <a:solidFill>
            <a:srgbClr val="0A2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E8C9B66-18E1-75FC-296B-EB255F121E1F}"/>
              </a:ext>
            </a:extLst>
          </p:cNvPr>
          <p:cNvSpPr txBox="1"/>
          <p:nvPr/>
        </p:nvSpPr>
        <p:spPr>
          <a:xfrm>
            <a:off x="1371600" y="15494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4EC9B0"/>
                </a:solidFill>
                <a:latin typeface="Segoe UI" panose="020B0502040204020203" pitchFamily="34" charset="0"/>
              </a:rPr>
              <a:t>Moderada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9079945-3E3A-E3B1-145C-8F51A8E98D42}"/>
              </a:ext>
            </a:extLst>
          </p:cNvPr>
          <p:cNvSpPr txBox="1"/>
          <p:nvPr/>
        </p:nvSpPr>
        <p:spPr>
          <a:xfrm>
            <a:off x="254000" y="2006600"/>
            <a:ext cx="11684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IA reduz drasticamente o custo de criacao de software especializado - mil novos ISVs verticais emergem. Cada industria passa a ter multiplos players de IA nativa ultra-especializados.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4A5AA2D-4E7E-13D1-60A1-5361D13EFC64}"/>
              </a:ext>
            </a:extLst>
          </p:cNvPr>
          <p:cNvSpPr/>
          <p:nvPr/>
        </p:nvSpPr>
        <p:spPr>
          <a:xfrm>
            <a:off x="254000" y="2768600"/>
            <a:ext cx="5588000" cy="1879600"/>
          </a:xfrm>
          <a:prstGeom prst="rect">
            <a:avLst/>
          </a:prstGeom>
          <a:solidFill>
            <a:srgbClr val="0A1A0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B12BB07-B9E8-A744-22A4-B757204C19B5}"/>
              </a:ext>
            </a:extLst>
          </p:cNvPr>
          <p:cNvSpPr txBox="1"/>
          <p:nvPr/>
        </p:nvSpPr>
        <p:spPr>
          <a:xfrm>
            <a:off x="381000" y="2870200"/>
            <a:ext cx="5334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4EC9B0"/>
                </a:solidFill>
                <a:latin typeface="Segoe UI" panose="020B0502040204020203" pitchFamily="34" charset="0"/>
              </a:rPr>
              <a:t>VENCEDORES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89F8E8D-6846-417B-74CB-D44BAEF6542D}"/>
              </a:ext>
            </a:extLst>
          </p:cNvPr>
          <p:cNvSpPr txBox="1"/>
          <p:nvPr/>
        </p:nvSpPr>
        <p:spPr>
          <a:xfrm>
            <a:off x="381000" y="3175000"/>
            <a:ext cx="5334000" cy="64633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FFFFFF"/>
                </a:solidFill>
                <a:latin typeface="Segoe UI" panose="020B0502040204020203" pitchFamily="34" charset="0"/>
              </a:rPr>
              <a:t>&gt;  Fundadores com profundo dominio setorial
&gt;  Plataformas de infraestrutura de IA
&gt;  Venture capital focado em vertical AI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BBF0C1E-F7B5-903D-78D6-A07B47BE6B66}"/>
              </a:ext>
            </a:extLst>
          </p:cNvPr>
          <p:cNvSpPr/>
          <p:nvPr/>
        </p:nvSpPr>
        <p:spPr>
          <a:xfrm>
            <a:off x="6096000" y="2768600"/>
            <a:ext cx="5842000" cy="1879600"/>
          </a:xfrm>
          <a:prstGeom prst="rect">
            <a:avLst/>
          </a:prstGeom>
          <a:solidFill>
            <a:srgbClr val="1A0A0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B4CAB8F-29D9-75FB-C5A3-5259403CC4BB}"/>
              </a:ext>
            </a:extLst>
          </p:cNvPr>
          <p:cNvSpPr txBox="1"/>
          <p:nvPr/>
        </p:nvSpPr>
        <p:spPr>
          <a:xfrm>
            <a:off x="6223000" y="2870200"/>
            <a:ext cx="5588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E94560"/>
                </a:solidFill>
                <a:latin typeface="Segoe UI" panose="020B0502040204020203" pitchFamily="34" charset="0"/>
              </a:rPr>
              <a:t>PERDEDORES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F8F48F9-590F-8DAB-BB8E-155602275DB4}"/>
              </a:ext>
            </a:extLst>
          </p:cNvPr>
          <p:cNvSpPr txBox="1"/>
          <p:nvPr/>
        </p:nvSpPr>
        <p:spPr>
          <a:xfrm>
            <a:off x="6223000" y="3175000"/>
            <a:ext cx="5588000" cy="64633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FFFFFF"/>
                </a:solidFill>
                <a:latin typeface="Segoe UI" panose="020B0502040204020203" pitchFamily="34" charset="0"/>
              </a:rPr>
              <a:t>&gt;  Software horizontal sem especializacao
&gt;  Players que apostam em generalismo
&gt;  ISVs lentos para pivotar para vertical AI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735F693-33F9-3B5A-E6E9-8F478D7351BF}"/>
              </a:ext>
            </a:extLst>
          </p:cNvPr>
          <p:cNvSpPr txBox="1"/>
          <p:nvPr/>
        </p:nvSpPr>
        <p:spPr>
          <a:xfrm>
            <a:off x="254000" y="4889500"/>
            <a:ext cx="11684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5C518"/>
                </a:solidFill>
                <a:latin typeface="Segoe UI" panose="020B0502040204020203" pitchFamily="34" charset="0"/>
              </a:rPr>
              <a:t>O mercado cresce em numero de empresas e em total addressable market.</a:t>
            </a:r>
          </a:p>
        </p:txBody>
      </p:sp>
    </p:spTree>
    <p:extLst>
      <p:ext uri="{BB962C8B-B14F-4D97-AF65-F5344CB8AC3E}">
        <p14:creationId xmlns:p14="http://schemas.microsoft.com/office/powerpoint/2010/main" val="232233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B27F62B-5157-B442-D3D6-1853F9BD3F42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86D7DF8-D40E-B8C0-4C2E-C014E67D544D}"/>
              </a:ext>
            </a:extLst>
          </p:cNvPr>
          <p:cNvSpPr txBox="1"/>
          <p:nvPr/>
        </p:nvSpPr>
        <p:spPr>
          <a:xfrm>
            <a:off x="254000" y="1905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E94560"/>
                </a:solidFill>
                <a:latin typeface="Segoe UI" panose="020B0502040204020203" pitchFamily="34" charset="0"/>
              </a:rPr>
              <a:t>BLOCO 4  |  CENARIOS 3-5 ANOS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47EA6EEA-4A5E-B40C-6826-6EFB56352956}"/>
              </a:ext>
            </a:extLst>
          </p:cNvPr>
          <p:cNvCxnSpPr/>
          <p:nvPr/>
        </p:nvCxnSpPr>
        <p:spPr>
          <a:xfrm>
            <a:off x="254000" y="584200"/>
            <a:ext cx="11684000" cy="0"/>
          </a:xfrm>
          <a:prstGeom prst="line">
            <a:avLst/>
          </a:prstGeom>
          <a:ln w="127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213154BF-0477-3FD9-F74F-377F8FC392CE}"/>
              </a:ext>
            </a:extLst>
          </p:cNvPr>
          <p:cNvSpPr txBox="1"/>
          <p:nvPr/>
        </p:nvSpPr>
        <p:spPr>
          <a:xfrm>
            <a:off x="254000" y="698500"/>
            <a:ext cx="116840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000" b="1">
                <a:solidFill>
                  <a:srgbClr val="FFFFFF"/>
                </a:solidFill>
                <a:latin typeface="Segoe UI" panose="020B0502040204020203" pitchFamily="34" charset="0"/>
              </a:rPr>
              <a:t>Cenario C - A Plataformizacao Total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9D9E891-5438-66C5-3172-1F1CBD909819}"/>
              </a:ext>
            </a:extLst>
          </p:cNvPr>
          <p:cNvSpPr/>
          <p:nvPr/>
        </p:nvSpPr>
        <p:spPr>
          <a:xfrm>
            <a:off x="254000" y="1498600"/>
            <a:ext cx="1016000" cy="355600"/>
          </a:xfrm>
          <a:prstGeom prst="rect">
            <a:avLst/>
          </a:prstGeom>
          <a:solidFill>
            <a:srgbClr val="F5C5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C554EB1-BC26-D757-79D5-30D0200EC275}"/>
              </a:ext>
            </a:extLst>
          </p:cNvPr>
          <p:cNvSpPr txBox="1"/>
          <p:nvPr/>
        </p:nvSpPr>
        <p:spPr>
          <a:xfrm>
            <a:off x="254000" y="1549400"/>
            <a:ext cx="1016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1C1C3A"/>
                </a:solidFill>
                <a:latin typeface="Segoe UI" panose="020B0502040204020203" pitchFamily="34" charset="0"/>
              </a:rPr>
              <a:t>PROB.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47FA795-9748-7308-7C94-E15515D6C643}"/>
              </a:ext>
            </a:extLst>
          </p:cNvPr>
          <p:cNvSpPr/>
          <p:nvPr/>
        </p:nvSpPr>
        <p:spPr>
          <a:xfrm>
            <a:off x="1371600" y="1498600"/>
            <a:ext cx="5334000" cy="355600"/>
          </a:xfrm>
          <a:prstGeom prst="rect">
            <a:avLst/>
          </a:prstGeom>
          <a:solidFill>
            <a:srgbClr val="2A2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1E0AB7D-F276-7A89-1CEB-F3663C03440B}"/>
              </a:ext>
            </a:extLst>
          </p:cNvPr>
          <p:cNvSpPr txBox="1"/>
          <p:nvPr/>
        </p:nvSpPr>
        <p:spPr>
          <a:xfrm>
            <a:off x="1371600" y="1549400"/>
            <a:ext cx="5334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F5C518"/>
                </a:solidFill>
                <a:latin typeface="Segoe UI" panose="020B0502040204020203" pitchFamily="34" charset="0"/>
              </a:rPr>
              <a:t>Baixa-Moderada  |  ALTO IMPACTO se ocorrer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0A26207-B5DC-FB27-26CA-5866B347F1A6}"/>
              </a:ext>
            </a:extLst>
          </p:cNvPr>
          <p:cNvSpPr txBox="1"/>
          <p:nvPr/>
        </p:nvSpPr>
        <p:spPr>
          <a:xfrm>
            <a:off x="254000" y="2006600"/>
            <a:ext cx="11684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Modelos de fundacao se tornam a camada de aplicacao - empresas compram inteligencia diretamente de OpenAI, Anthropic ou Google. Software de negocio reduzido a orquestracao e customizacao.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4699CEE-4B20-5CCC-177D-17570CB789A5}"/>
              </a:ext>
            </a:extLst>
          </p:cNvPr>
          <p:cNvSpPr/>
          <p:nvPr/>
        </p:nvSpPr>
        <p:spPr>
          <a:xfrm>
            <a:off x="254000" y="2768600"/>
            <a:ext cx="5588000" cy="1879600"/>
          </a:xfrm>
          <a:prstGeom prst="rect">
            <a:avLst/>
          </a:prstGeom>
          <a:solidFill>
            <a:srgbClr val="0A1A0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4C1D8B8-DED9-5183-C767-549F4F548B81}"/>
              </a:ext>
            </a:extLst>
          </p:cNvPr>
          <p:cNvSpPr txBox="1"/>
          <p:nvPr/>
        </p:nvSpPr>
        <p:spPr>
          <a:xfrm>
            <a:off x="381000" y="2870200"/>
            <a:ext cx="5334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4EC9B0"/>
                </a:solidFill>
                <a:latin typeface="Segoe UI" panose="020B0502040204020203" pitchFamily="34" charset="0"/>
              </a:rPr>
              <a:t>VENCEDORES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7A4667E-30B3-DC4B-68DF-20A044FA4993}"/>
              </a:ext>
            </a:extLst>
          </p:cNvPr>
          <p:cNvSpPr txBox="1"/>
          <p:nvPr/>
        </p:nvSpPr>
        <p:spPr>
          <a:xfrm>
            <a:off x="381000" y="3175000"/>
            <a:ext cx="5334000" cy="64633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FFFFFF"/>
                </a:solidFill>
                <a:latin typeface="Segoe UI" panose="020B0502040204020203" pitchFamily="34" charset="0"/>
              </a:rPr>
              <a:t>&gt;  Provedores de modelos de fundacao
&gt;  Empresas com dados unicos e defensaveis
&gt;  Infraestrutura de cloud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74EC8A8-AB04-352B-0FFE-C0D569265810}"/>
              </a:ext>
            </a:extLst>
          </p:cNvPr>
          <p:cNvSpPr/>
          <p:nvPr/>
        </p:nvSpPr>
        <p:spPr>
          <a:xfrm>
            <a:off x="6096000" y="2768600"/>
            <a:ext cx="5842000" cy="1879600"/>
          </a:xfrm>
          <a:prstGeom prst="rect">
            <a:avLst/>
          </a:prstGeom>
          <a:solidFill>
            <a:srgbClr val="1A0A0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12592D5-22AB-31BA-ADB1-8DFC960AF0BE}"/>
              </a:ext>
            </a:extLst>
          </p:cNvPr>
          <p:cNvSpPr txBox="1"/>
          <p:nvPr/>
        </p:nvSpPr>
        <p:spPr>
          <a:xfrm>
            <a:off x="6223000" y="2870200"/>
            <a:ext cx="5588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E94560"/>
                </a:solidFill>
                <a:latin typeface="Segoe UI" panose="020B0502040204020203" pitchFamily="34" charset="0"/>
              </a:rPr>
              <a:t>PERDEDORES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B5E7C33-882D-FD61-69A4-148C3CD8D91F}"/>
              </a:ext>
            </a:extLst>
          </p:cNvPr>
          <p:cNvSpPr txBox="1"/>
          <p:nvPr/>
        </p:nvSpPr>
        <p:spPr>
          <a:xfrm>
            <a:off x="6223000" y="3175000"/>
            <a:ext cx="5588000" cy="64633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FFFFFF"/>
                </a:solidFill>
                <a:latin typeface="Segoe UI" panose="020B0502040204020203" pitchFamily="34" charset="0"/>
              </a:rPr>
              <a:t>&gt;  A industria de software de aplicacao
   como a conhecemos hoje
&gt;  ISVs sem dados proprietarios unicos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2289204-BF3D-1143-05F2-C55EECF420B9}"/>
              </a:ext>
            </a:extLst>
          </p:cNvPr>
          <p:cNvSpPr txBox="1"/>
          <p:nvPr/>
        </p:nvSpPr>
        <p:spPr>
          <a:xfrm>
            <a:off x="254000" y="4889500"/>
            <a:ext cx="11684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F5C518"/>
                </a:solidFill>
                <a:latin typeface="Segoe UI" panose="020B0502040204020203" pitchFamily="34" charset="0"/>
              </a:rPr>
              <a:t>Valor migra radicalmente para dados proprietarios e infraestrutura de compute.</a:t>
            </a:r>
          </a:p>
        </p:txBody>
      </p:sp>
    </p:spTree>
    <p:extLst>
      <p:ext uri="{BB962C8B-B14F-4D97-AF65-F5344CB8AC3E}">
        <p14:creationId xmlns:p14="http://schemas.microsoft.com/office/powerpoint/2010/main" val="2774072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EAEFCC4-A08E-2985-8292-49685A68D7F4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88E0039-DB70-E06B-6782-2651F33D1E42}"/>
              </a:ext>
            </a:extLst>
          </p:cNvPr>
          <p:cNvSpPr txBox="1"/>
          <p:nvPr/>
        </p:nvSpPr>
        <p:spPr>
          <a:xfrm>
            <a:off x="254000" y="1905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E94560"/>
                </a:solidFill>
                <a:latin typeface="Segoe UI" panose="020B0502040204020203" pitchFamily="34" charset="0"/>
              </a:rPr>
              <a:t>BLOCO 4  |  CENARIOS 3-5 ANOS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0DA2F99-F3F6-311C-F0F5-E716E3B52BE1}"/>
              </a:ext>
            </a:extLst>
          </p:cNvPr>
          <p:cNvCxnSpPr/>
          <p:nvPr/>
        </p:nvCxnSpPr>
        <p:spPr>
          <a:xfrm>
            <a:off x="254000" y="584200"/>
            <a:ext cx="11684000" cy="0"/>
          </a:xfrm>
          <a:prstGeom prst="line">
            <a:avLst/>
          </a:prstGeom>
          <a:ln w="127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0FB7FA-3DD6-C3DF-3C85-3326B5223951}"/>
              </a:ext>
            </a:extLst>
          </p:cNvPr>
          <p:cNvSpPr txBox="1"/>
          <p:nvPr/>
        </p:nvSpPr>
        <p:spPr>
          <a:xfrm>
            <a:off x="254000" y="698500"/>
            <a:ext cx="116840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000" b="1">
                <a:solidFill>
                  <a:srgbClr val="FFFFFF"/>
                </a:solidFill>
                <a:latin typeface="Segoe UI" panose="020B0502040204020203" pitchFamily="34" charset="0"/>
              </a:rPr>
              <a:t>Sinais de Alerta para Monitorar em 2025-2026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74078E1-656B-8612-EB80-8071A5F90F2A}"/>
              </a:ext>
            </a:extLst>
          </p:cNvPr>
          <p:cNvSpPr/>
          <p:nvPr/>
        </p:nvSpPr>
        <p:spPr>
          <a:xfrm>
            <a:off x="254000" y="1498600"/>
            <a:ext cx="508000" cy="431800"/>
          </a:xfrm>
          <a:prstGeom prst="rect">
            <a:avLst/>
          </a:prstGeom>
          <a:solidFill>
            <a:srgbClr val="2A1A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BBAF27D-CDB5-3485-A969-BF98D9A76E42}"/>
              </a:ext>
            </a:extLst>
          </p:cNvPr>
          <p:cNvSpPr txBox="1"/>
          <p:nvPr/>
        </p:nvSpPr>
        <p:spPr>
          <a:xfrm>
            <a:off x="254000" y="1549400"/>
            <a:ext cx="508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200" b="1">
                <a:solidFill>
                  <a:srgbClr val="E94560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6A8D103-509B-C513-0A04-F37BE59B39E1}"/>
              </a:ext>
            </a:extLst>
          </p:cNvPr>
          <p:cNvSpPr txBox="1"/>
          <p:nvPr/>
        </p:nvSpPr>
        <p:spPr>
          <a:xfrm>
            <a:off x="863600" y="1536700"/>
            <a:ext cx="6223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FFFFFF"/>
                </a:solidFill>
                <a:latin typeface="Segoe UI" panose="020B0502040204020203" pitchFamily="34" charset="0"/>
              </a:rPr>
              <a:t>Evolucao do pricing de SaaS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DAC7977-AC9A-F305-DF6F-AD9A3BA26D44}"/>
              </a:ext>
            </a:extLst>
          </p:cNvPr>
          <p:cNvSpPr txBox="1"/>
          <p:nvPr/>
        </p:nvSpPr>
        <p:spPr>
          <a:xfrm>
            <a:off x="863600" y="1752600"/>
            <a:ext cx="10668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Surgimento de modelos outcome-based em contratos enterprise = sinal de ruptura estrutural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18BB13C-5A7F-9FDA-9CBB-F8738613C1A8}"/>
              </a:ext>
            </a:extLst>
          </p:cNvPr>
          <p:cNvSpPr/>
          <p:nvPr/>
        </p:nvSpPr>
        <p:spPr>
          <a:xfrm>
            <a:off x="254000" y="2057400"/>
            <a:ext cx="508000" cy="431800"/>
          </a:xfrm>
          <a:prstGeom prst="rect">
            <a:avLst/>
          </a:prstGeom>
          <a:solidFill>
            <a:srgbClr val="2A1A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D3FAD53-4248-A56B-DADD-AA94E03036D1}"/>
              </a:ext>
            </a:extLst>
          </p:cNvPr>
          <p:cNvSpPr txBox="1"/>
          <p:nvPr/>
        </p:nvSpPr>
        <p:spPr>
          <a:xfrm>
            <a:off x="254000" y="2108200"/>
            <a:ext cx="508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200" b="1">
                <a:solidFill>
                  <a:srgbClr val="E94560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9BB1E3E-EA47-C872-CBB5-BD47BB3EDBF3}"/>
              </a:ext>
            </a:extLst>
          </p:cNvPr>
          <p:cNvSpPr txBox="1"/>
          <p:nvPr/>
        </p:nvSpPr>
        <p:spPr>
          <a:xfrm>
            <a:off x="863600" y="2095500"/>
            <a:ext cx="6223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FFFFFF"/>
                </a:solidFill>
                <a:latin typeface="Segoe UI" panose="020B0502040204020203" pitchFamily="34" charset="0"/>
              </a:rPr>
              <a:t>Aquisicoes de ISVs por modelos de fundacao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3C88FCF-34F1-AE8C-8A7F-A16C12CCC27A}"/>
              </a:ext>
            </a:extLst>
          </p:cNvPr>
          <p:cNvSpPr txBox="1"/>
          <p:nvPr/>
        </p:nvSpPr>
        <p:spPr>
          <a:xfrm>
            <a:off x="863600" y="2311400"/>
            <a:ext cx="10668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Se OpenAI ou Anthropic comprarem software vertical, o sinal sera claro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EDFC333-235A-2B42-8ADE-264D15102626}"/>
              </a:ext>
            </a:extLst>
          </p:cNvPr>
          <p:cNvSpPr/>
          <p:nvPr/>
        </p:nvSpPr>
        <p:spPr>
          <a:xfrm>
            <a:off x="254000" y="2616200"/>
            <a:ext cx="508000" cy="431800"/>
          </a:xfrm>
          <a:prstGeom prst="rect">
            <a:avLst/>
          </a:prstGeom>
          <a:solidFill>
            <a:srgbClr val="2A1A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871872D-B4B0-1D54-013C-D95625F06B63}"/>
              </a:ext>
            </a:extLst>
          </p:cNvPr>
          <p:cNvSpPr txBox="1"/>
          <p:nvPr/>
        </p:nvSpPr>
        <p:spPr>
          <a:xfrm>
            <a:off x="254000" y="2667000"/>
            <a:ext cx="508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200" b="1">
                <a:solidFill>
                  <a:srgbClr val="E94560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7FD94AF-A9EC-46E0-0141-BC8B7E6FDB9F}"/>
              </a:ext>
            </a:extLst>
          </p:cNvPr>
          <p:cNvSpPr txBox="1"/>
          <p:nvPr/>
        </p:nvSpPr>
        <p:spPr>
          <a:xfrm>
            <a:off x="863600" y="2654300"/>
            <a:ext cx="6223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FFFFFF"/>
                </a:solidFill>
                <a:latin typeface="Segoe UI" panose="020B0502040204020203" pitchFamily="34" charset="0"/>
              </a:rPr>
              <a:t>NRR da industria abaixo de 100%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E6C4B40-4995-7347-CA8C-49792E5A72DE}"/>
              </a:ext>
            </a:extLst>
          </p:cNvPr>
          <p:cNvSpPr txBox="1"/>
          <p:nvPr/>
        </p:nvSpPr>
        <p:spPr>
          <a:xfrm>
            <a:off x="863600" y="2870200"/>
            <a:ext cx="10668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Se cair onde IA foi amplamente adotada, e evidencia de canibalizacao real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B0B24C5-CE8E-215C-92FA-4FDCF875D062}"/>
              </a:ext>
            </a:extLst>
          </p:cNvPr>
          <p:cNvSpPr/>
          <p:nvPr/>
        </p:nvSpPr>
        <p:spPr>
          <a:xfrm>
            <a:off x="254000" y="3175000"/>
            <a:ext cx="508000" cy="431800"/>
          </a:xfrm>
          <a:prstGeom prst="rect">
            <a:avLst/>
          </a:prstGeom>
          <a:solidFill>
            <a:srgbClr val="2A1A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FD48813-EB9D-BA32-61F1-43A4394AC783}"/>
              </a:ext>
            </a:extLst>
          </p:cNvPr>
          <p:cNvSpPr txBox="1"/>
          <p:nvPr/>
        </p:nvSpPr>
        <p:spPr>
          <a:xfrm>
            <a:off x="254000" y="3225800"/>
            <a:ext cx="508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200" b="1">
                <a:solidFill>
                  <a:srgbClr val="E94560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EC08C88-12E7-3752-1E0E-0820DBDF015E}"/>
              </a:ext>
            </a:extLst>
          </p:cNvPr>
          <p:cNvSpPr txBox="1"/>
          <p:nvPr/>
        </p:nvSpPr>
        <p:spPr>
          <a:xfrm>
            <a:off x="863600" y="3213100"/>
            <a:ext cx="6223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FFFFFF"/>
                </a:solidFill>
                <a:latin typeface="Segoe UI" panose="020B0502040204020203" pitchFamily="34" charset="0"/>
              </a:rPr>
              <a:t>Churn para solucoes IA nativas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2098BE5-7810-4EE1-1B71-EA943CD0D8BA}"/>
              </a:ext>
            </a:extLst>
          </p:cNvPr>
          <p:cNvSpPr txBox="1"/>
          <p:nvPr/>
        </p:nvSpPr>
        <p:spPr>
          <a:xfrm>
            <a:off x="863600" y="3429000"/>
            <a:ext cx="10668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Cursor vs. Copilot vs. IDE tradicional e o laboratorio observavel hoje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C9ED3EF-89E1-966C-4E2A-03D7DADC8625}"/>
              </a:ext>
            </a:extLst>
          </p:cNvPr>
          <p:cNvSpPr/>
          <p:nvPr/>
        </p:nvSpPr>
        <p:spPr>
          <a:xfrm>
            <a:off x="254000" y="3733800"/>
            <a:ext cx="508000" cy="431800"/>
          </a:xfrm>
          <a:prstGeom prst="rect">
            <a:avLst/>
          </a:prstGeom>
          <a:solidFill>
            <a:srgbClr val="2A1A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A8E92F3-D998-1554-8984-912B1D31CCC9}"/>
              </a:ext>
            </a:extLst>
          </p:cNvPr>
          <p:cNvSpPr txBox="1"/>
          <p:nvPr/>
        </p:nvSpPr>
        <p:spPr>
          <a:xfrm>
            <a:off x="254000" y="3784600"/>
            <a:ext cx="508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200" b="1">
                <a:solidFill>
                  <a:srgbClr val="E94560"/>
                </a:solidFill>
                <a:latin typeface="Segoe UI" panose="020B0502040204020203" pitchFamily="34" charset="0"/>
              </a:rPr>
              <a:t>05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68D1A01-A1F1-6D62-6280-E19B6728F92D}"/>
              </a:ext>
            </a:extLst>
          </p:cNvPr>
          <p:cNvSpPr txBox="1"/>
          <p:nvPr/>
        </p:nvSpPr>
        <p:spPr>
          <a:xfrm>
            <a:off x="863600" y="3771900"/>
            <a:ext cx="6223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FFFFFF"/>
                </a:solidFill>
                <a:latin typeface="Segoe UI" panose="020B0502040204020203" pitchFamily="34" charset="0"/>
              </a:rPr>
              <a:t>Consolidacao de devtools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82AC1AC-1C0D-23BF-322E-C1BF0BE246AA}"/>
              </a:ext>
            </a:extLst>
          </p:cNvPr>
          <p:cNvSpPr txBox="1"/>
          <p:nvPr/>
        </p:nvSpPr>
        <p:spPr>
          <a:xfrm>
            <a:off x="863600" y="3987800"/>
            <a:ext cx="10668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O padrao que emergir definira como software e construido na proxima decada</a:t>
            </a:r>
          </a:p>
        </p:txBody>
      </p:sp>
    </p:spTree>
    <p:extLst>
      <p:ext uri="{BB962C8B-B14F-4D97-AF65-F5344CB8AC3E}">
        <p14:creationId xmlns:p14="http://schemas.microsoft.com/office/powerpoint/2010/main" val="4185203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6A8FD58-1DEB-1034-EB0E-ECEFAA781E53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017DB76-F38B-BEDD-D499-98E7739411E8}"/>
              </a:ext>
            </a:extLst>
          </p:cNvPr>
          <p:cNvSpPr txBox="1"/>
          <p:nvPr/>
        </p:nvSpPr>
        <p:spPr>
          <a:xfrm>
            <a:off x="254000" y="1905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E94560"/>
                </a:solidFill>
                <a:latin typeface="Segoe UI" panose="020B0502040204020203" pitchFamily="34" charset="0"/>
              </a:rPr>
              <a:t>BLOCO 5  |  QUESTOES PARA DEBATE (10 min)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C022DA2B-FB48-FB8D-69EA-FBAD6D78F501}"/>
              </a:ext>
            </a:extLst>
          </p:cNvPr>
          <p:cNvCxnSpPr/>
          <p:nvPr/>
        </p:nvCxnSpPr>
        <p:spPr>
          <a:xfrm>
            <a:off x="254000" y="584200"/>
            <a:ext cx="11684000" cy="0"/>
          </a:xfrm>
          <a:prstGeom prst="line">
            <a:avLst/>
          </a:prstGeom>
          <a:ln w="127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CC40F559-6DD9-D873-81D9-F58C22BF69BB}"/>
              </a:ext>
            </a:extLst>
          </p:cNvPr>
          <p:cNvSpPr txBox="1"/>
          <p:nvPr/>
        </p:nvSpPr>
        <p:spPr>
          <a:xfrm>
            <a:off x="254000" y="698500"/>
            <a:ext cx="116840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000" b="1">
                <a:solidFill>
                  <a:srgbClr val="FFFFFF"/>
                </a:solidFill>
                <a:latin typeface="Segoe UI" panose="020B0502040204020203" pitchFamily="34" charset="0"/>
              </a:rPr>
              <a:t>As Perguntas Que a Industria Ainda Nao Respondeu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F39EBFC-014A-7129-61F5-64F0BF1B1947}"/>
              </a:ext>
            </a:extLst>
          </p:cNvPr>
          <p:cNvSpPr/>
          <p:nvPr/>
        </p:nvSpPr>
        <p:spPr>
          <a:xfrm>
            <a:off x="254000" y="1498600"/>
            <a:ext cx="2222500" cy="39370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C6DE526-E315-0A14-6A29-E01722C32204}"/>
              </a:ext>
            </a:extLst>
          </p:cNvPr>
          <p:cNvSpPr/>
          <p:nvPr/>
        </p:nvSpPr>
        <p:spPr>
          <a:xfrm>
            <a:off x="254000" y="1498600"/>
            <a:ext cx="2222500" cy="76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6BFE261-5E90-A97E-7091-5B91AA6E7BF2}"/>
              </a:ext>
            </a:extLst>
          </p:cNvPr>
          <p:cNvSpPr txBox="1"/>
          <p:nvPr/>
        </p:nvSpPr>
        <p:spPr>
          <a:xfrm>
            <a:off x="317500" y="1651000"/>
            <a:ext cx="2095500" cy="4001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4EC9B0"/>
                </a:solidFill>
                <a:latin typeface="Segoe UI" panose="020B0502040204020203" pitchFamily="34" charset="0"/>
              </a:rPr>
              <a:t>ESTRATEGIA
DE PRODUTO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20BE242-3844-F060-49F5-796BCBDBD65E}"/>
              </a:ext>
            </a:extLst>
          </p:cNvPr>
          <p:cNvSpPr txBox="1"/>
          <p:nvPr/>
        </p:nvSpPr>
        <p:spPr>
          <a:xfrm>
            <a:off x="317500" y="2286000"/>
            <a:ext cx="2095500" cy="93871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O produto incorpora IA como feature ou como arquitetura? Quando o cliente pode montar o software com agentes, qual e o plano B?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C23F86E-364F-AE26-C8F5-735A9CE62755}"/>
              </a:ext>
            </a:extLst>
          </p:cNvPr>
          <p:cNvSpPr/>
          <p:nvPr/>
        </p:nvSpPr>
        <p:spPr>
          <a:xfrm>
            <a:off x="2616200" y="1498600"/>
            <a:ext cx="2222500" cy="39370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94D4020-A916-E449-C5CB-10442B7D487C}"/>
              </a:ext>
            </a:extLst>
          </p:cNvPr>
          <p:cNvSpPr/>
          <p:nvPr/>
        </p:nvSpPr>
        <p:spPr>
          <a:xfrm>
            <a:off x="2616200" y="1498600"/>
            <a:ext cx="2222500" cy="76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67364A5-68C1-F0AE-1128-B2597B8BE4B7}"/>
              </a:ext>
            </a:extLst>
          </p:cNvPr>
          <p:cNvSpPr txBox="1"/>
          <p:nvPr/>
        </p:nvSpPr>
        <p:spPr>
          <a:xfrm>
            <a:off x="2679700" y="1651000"/>
            <a:ext cx="2095500" cy="4001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4EC9B0"/>
                </a:solidFill>
                <a:latin typeface="Segoe UI" panose="020B0502040204020203" pitchFamily="34" charset="0"/>
              </a:rPr>
              <a:t>MODELOS DE
NEGOCIO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A60B08D-8799-7766-3BAD-7769E70EFE51}"/>
              </a:ext>
            </a:extLst>
          </p:cNvPr>
          <p:cNvSpPr txBox="1"/>
          <p:nvPr/>
        </p:nvSpPr>
        <p:spPr>
          <a:xfrm>
            <a:off x="2679700" y="2286000"/>
            <a:ext cx="2095500" cy="93871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Voce esta preparado para defender margem quando custos sobem e mercado pressiona por outcome-based pricing?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6B9D3EB-4CDB-8E78-B877-9B63805A1421}"/>
              </a:ext>
            </a:extLst>
          </p:cNvPr>
          <p:cNvSpPr/>
          <p:nvPr/>
        </p:nvSpPr>
        <p:spPr>
          <a:xfrm>
            <a:off x="4978400" y="1498600"/>
            <a:ext cx="2222500" cy="39370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2EE12EF-17BB-3EE3-D81C-CDEAD2CB7738}"/>
              </a:ext>
            </a:extLst>
          </p:cNvPr>
          <p:cNvSpPr/>
          <p:nvPr/>
        </p:nvSpPr>
        <p:spPr>
          <a:xfrm>
            <a:off x="4978400" y="1498600"/>
            <a:ext cx="2222500" cy="76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A1FDEB5-D242-B25D-09C6-8574DCB96391}"/>
              </a:ext>
            </a:extLst>
          </p:cNvPr>
          <p:cNvSpPr txBox="1"/>
          <p:nvPr/>
        </p:nvSpPr>
        <p:spPr>
          <a:xfrm>
            <a:off x="5041900" y="1651000"/>
            <a:ext cx="2095500" cy="4001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4EC9B0"/>
                </a:solidFill>
                <a:latin typeface="Segoe UI" panose="020B0502040204020203" pitchFamily="34" charset="0"/>
              </a:rPr>
              <a:t>M&amp;A E
INVESTIMENTO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6E631A0-FA34-E19A-B5D3-09DC5A1382AD}"/>
              </a:ext>
            </a:extLst>
          </p:cNvPr>
          <p:cNvSpPr txBox="1"/>
          <p:nvPr/>
        </p:nvSpPr>
        <p:spPr>
          <a:xfrm>
            <a:off x="5041900" y="2286000"/>
            <a:ext cx="2095500" cy="93871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Multiplos AI-native precificam execucao ou expectativa? Software vertical e investivel dado risco de plataformizacao?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1A7ACB5-7662-7A70-74AD-517ED75256C4}"/>
              </a:ext>
            </a:extLst>
          </p:cNvPr>
          <p:cNvSpPr/>
          <p:nvPr/>
        </p:nvSpPr>
        <p:spPr>
          <a:xfrm>
            <a:off x="7340600" y="1498600"/>
            <a:ext cx="2222500" cy="39370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284A70F-09E7-A757-B6A6-6AFB6CE1A1C0}"/>
              </a:ext>
            </a:extLst>
          </p:cNvPr>
          <p:cNvSpPr/>
          <p:nvPr/>
        </p:nvSpPr>
        <p:spPr>
          <a:xfrm>
            <a:off x="7340600" y="1498600"/>
            <a:ext cx="2222500" cy="76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806AD30-3E53-FE90-9B9F-C3D4A0DAE6A3}"/>
              </a:ext>
            </a:extLst>
          </p:cNvPr>
          <p:cNvSpPr txBox="1"/>
          <p:nvPr/>
        </p:nvSpPr>
        <p:spPr>
          <a:xfrm>
            <a:off x="7404100" y="1651000"/>
            <a:ext cx="2095500" cy="4001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4EC9B0"/>
                </a:solidFill>
                <a:latin typeface="Segoe UI" panose="020B0502040204020203" pitchFamily="34" charset="0"/>
              </a:rPr>
              <a:t>TALENTO E
ORGANIZACAO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0A60937-DC25-9E0B-FEAF-29264C2CFA8D}"/>
              </a:ext>
            </a:extLst>
          </p:cNvPr>
          <p:cNvSpPr txBox="1"/>
          <p:nvPr/>
        </p:nvSpPr>
        <p:spPr>
          <a:xfrm>
            <a:off x="7404100" y="2286000"/>
            <a:ext cx="2095500" cy="93871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O dev de 2030 vai programar ou orquestrar agentes? Lideranca foi desenhada para o mundo de software gerado por IA?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D102B69-8F91-CA0F-744E-5B1264C96968}"/>
              </a:ext>
            </a:extLst>
          </p:cNvPr>
          <p:cNvSpPr/>
          <p:nvPr/>
        </p:nvSpPr>
        <p:spPr>
          <a:xfrm>
            <a:off x="9702800" y="1498600"/>
            <a:ext cx="2222500" cy="39370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B5DBD26-4FF7-26F5-D160-B2392143E453}"/>
              </a:ext>
            </a:extLst>
          </p:cNvPr>
          <p:cNvSpPr/>
          <p:nvPr/>
        </p:nvSpPr>
        <p:spPr>
          <a:xfrm>
            <a:off x="9702800" y="1498600"/>
            <a:ext cx="2222500" cy="76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C38AD34-7573-831C-8E24-683C63F53F69}"/>
              </a:ext>
            </a:extLst>
          </p:cNvPr>
          <p:cNvSpPr txBox="1"/>
          <p:nvPr/>
        </p:nvSpPr>
        <p:spPr>
          <a:xfrm>
            <a:off x="9766300" y="1651000"/>
            <a:ext cx="2095500" cy="4001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000" b="1">
                <a:solidFill>
                  <a:srgbClr val="4EC9B0"/>
                </a:solidFill>
                <a:latin typeface="Segoe UI" panose="020B0502040204020203" pitchFamily="34" charset="0"/>
              </a:rPr>
              <a:t>REGULACAO
E CONFIANCA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AD7F2A6-5018-FDF0-848D-E55DB58AC470}"/>
              </a:ext>
            </a:extLst>
          </p:cNvPr>
          <p:cNvSpPr txBox="1"/>
          <p:nvPr/>
        </p:nvSpPr>
        <p:spPr>
          <a:xfrm>
            <a:off x="9766300" y="2286000"/>
            <a:ext cx="2095500" cy="93871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CCCCCC"/>
                </a:solidFill>
                <a:latin typeface="Segoe UI" panose="020B0502040204020203" pitchFamily="34" charset="0"/>
              </a:rPr>
              <a:t>Quem responde quando IA erra em decisoes criticas? Como EUA, Europa e Brasil divergindo afeta produto e M&amp;A cross-border?</a:t>
            </a:r>
          </a:p>
        </p:txBody>
      </p:sp>
    </p:spTree>
    <p:extLst>
      <p:ext uri="{BB962C8B-B14F-4D97-AF65-F5344CB8AC3E}">
        <p14:creationId xmlns:p14="http://schemas.microsoft.com/office/powerpoint/2010/main" val="180736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3E1390F-ADD6-3386-1B2C-09C4DD8020BB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B16A2F7-44A7-20CD-ECB7-3205B9608167}"/>
              </a:ext>
            </a:extLst>
          </p:cNvPr>
          <p:cNvSpPr txBox="1"/>
          <p:nvPr/>
        </p:nvSpPr>
        <p:spPr>
          <a:xfrm>
            <a:off x="254000" y="1905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E94560"/>
                </a:solidFill>
                <a:latin typeface="Segoe UI" panose="020B0502040204020203" pitchFamily="34" charset="0"/>
              </a:rPr>
              <a:t>BLOCO 6  |  ENCERRAMENTO (5 min)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7097389-2050-68B1-08C9-8FD5851E1A1F}"/>
              </a:ext>
            </a:extLst>
          </p:cNvPr>
          <p:cNvCxnSpPr/>
          <p:nvPr/>
        </p:nvCxnSpPr>
        <p:spPr>
          <a:xfrm>
            <a:off x="254000" y="584200"/>
            <a:ext cx="11684000" cy="0"/>
          </a:xfrm>
          <a:prstGeom prst="line">
            <a:avLst/>
          </a:prstGeom>
          <a:ln w="127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39521CF0-2CFF-3FE6-3111-2B9D1D0DE104}"/>
              </a:ext>
            </a:extLst>
          </p:cNvPr>
          <p:cNvSpPr txBox="1"/>
          <p:nvPr/>
        </p:nvSpPr>
        <p:spPr>
          <a:xfrm>
            <a:off x="254000" y="698500"/>
            <a:ext cx="116840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000" b="1">
                <a:solidFill>
                  <a:srgbClr val="FFFFFF"/>
                </a:solidFill>
                <a:latin typeface="Segoe UI" panose="020B0502040204020203" pitchFamily="34" charset="0"/>
              </a:rPr>
              <a:t>O Que a Historia Nos Ensina - E Onde Ela Nao Ajuda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700BCE9-D111-F93D-AC91-7D66ED6F9C54}"/>
              </a:ext>
            </a:extLst>
          </p:cNvPr>
          <p:cNvSpPr/>
          <p:nvPr/>
        </p:nvSpPr>
        <p:spPr>
          <a:xfrm>
            <a:off x="254000" y="1473200"/>
            <a:ext cx="11684000" cy="381000"/>
          </a:xfrm>
          <a:prstGeom prst="rect">
            <a:avLst/>
          </a:prstGeom>
          <a:solidFill>
            <a:srgbClr val="2A2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74F0E58-74B9-8774-8D29-9CDE582A1763}"/>
              </a:ext>
            </a:extLst>
          </p:cNvPr>
          <p:cNvSpPr txBox="1"/>
          <p:nvPr/>
        </p:nvSpPr>
        <p:spPr>
          <a:xfrm>
            <a:off x="254000" y="1524000"/>
            <a:ext cx="3683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CCCCCC"/>
                </a:solidFill>
                <a:latin typeface="Segoe UI" panose="020B0502040204020203" pitchFamily="34" charset="0"/>
              </a:rPr>
              <a:t>Disrupcao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A2D99DF-23D2-C77C-308A-91E00E26E845}"/>
              </a:ext>
            </a:extLst>
          </p:cNvPr>
          <p:cNvSpPr txBox="1"/>
          <p:nvPr/>
        </p:nvSpPr>
        <p:spPr>
          <a:xfrm>
            <a:off x="4064000" y="1524000"/>
            <a:ext cx="3683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4EC9B0"/>
                </a:solidFill>
                <a:latin typeface="Segoe UI" panose="020B0502040204020203" pitchFamily="34" charset="0"/>
              </a:rPr>
              <a:t>Adaptaram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AA58F0B-727D-C8C7-7A78-1E0E0C366323}"/>
              </a:ext>
            </a:extLst>
          </p:cNvPr>
          <p:cNvSpPr txBox="1"/>
          <p:nvPr/>
        </p:nvSpPr>
        <p:spPr>
          <a:xfrm>
            <a:off x="7874000" y="1524000"/>
            <a:ext cx="381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E94560"/>
                </a:solidFill>
                <a:latin typeface="Segoe UI" panose="020B0502040204020203" pitchFamily="34" charset="0"/>
              </a:rPr>
              <a:t>Desapareceram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07E888D-3BEB-EF2A-9C98-EF28835536AB}"/>
              </a:ext>
            </a:extLst>
          </p:cNvPr>
          <p:cNvSpPr/>
          <p:nvPr/>
        </p:nvSpPr>
        <p:spPr>
          <a:xfrm>
            <a:off x="254000" y="1905000"/>
            <a:ext cx="11684000" cy="5842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5CBCDB2-F6AA-4C7B-ADE3-3094A925E929}"/>
              </a:ext>
            </a:extLst>
          </p:cNvPr>
          <p:cNvSpPr txBox="1"/>
          <p:nvPr/>
        </p:nvSpPr>
        <p:spPr>
          <a:xfrm>
            <a:off x="317500" y="1993900"/>
            <a:ext cx="36195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FFFFFF"/>
                </a:solidFill>
                <a:latin typeface="Segoe UI" panose="020B0502040204020203" pitchFamily="34" charset="0"/>
              </a:rPr>
              <a:t>Client-server &gt; Web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DA2E565-7875-22D4-7968-47EB7DDD739E}"/>
              </a:ext>
            </a:extLst>
          </p:cNvPr>
          <p:cNvSpPr txBox="1"/>
          <p:nvPr/>
        </p:nvSpPr>
        <p:spPr>
          <a:xfrm>
            <a:off x="4127500" y="1993900"/>
            <a:ext cx="36195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4EC9B0"/>
                </a:solidFill>
                <a:latin typeface="Segoe UI" panose="020B0502040204020203" pitchFamily="34" charset="0"/>
              </a:rPr>
              <a:t>Microsoft, Oracle (custoso, mas sobreviveram)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DA124EE-500D-C8A6-7BEC-129965DBE0FF}"/>
              </a:ext>
            </a:extLst>
          </p:cNvPr>
          <p:cNvSpPr txBox="1"/>
          <p:nvPr/>
        </p:nvSpPr>
        <p:spPr>
          <a:xfrm>
            <a:off x="7937500" y="1993900"/>
            <a:ext cx="381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94560"/>
                </a:solidFill>
                <a:latin typeface="Segoe UI" panose="020B0502040204020203" pitchFamily="34" charset="0"/>
              </a:rPr>
              <a:t>Lotus, Netscape, WordPerfect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461627F-7700-3A07-447A-4546C8C647FF}"/>
              </a:ext>
            </a:extLst>
          </p:cNvPr>
          <p:cNvSpPr/>
          <p:nvPr/>
        </p:nvSpPr>
        <p:spPr>
          <a:xfrm>
            <a:off x="254000" y="2540000"/>
            <a:ext cx="11684000" cy="5842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62BE14A-4BDF-29D9-781C-CA8FEFA424B7}"/>
              </a:ext>
            </a:extLst>
          </p:cNvPr>
          <p:cNvSpPr txBox="1"/>
          <p:nvPr/>
        </p:nvSpPr>
        <p:spPr>
          <a:xfrm>
            <a:off x="317500" y="2628900"/>
            <a:ext cx="36195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FFFFFF"/>
                </a:solidFill>
                <a:latin typeface="Segoe UI" panose="020B0502040204020203" pitchFamily="34" charset="0"/>
              </a:rPr>
              <a:t>On-premise &gt; Cloud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544F181-C095-4CE6-524D-5B0DA37420C1}"/>
              </a:ext>
            </a:extLst>
          </p:cNvPr>
          <p:cNvSpPr txBox="1"/>
          <p:nvPr/>
        </p:nvSpPr>
        <p:spPr>
          <a:xfrm>
            <a:off x="4127500" y="2628900"/>
            <a:ext cx="36195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4EC9B0"/>
                </a:solidFill>
                <a:latin typeface="Segoe UI" panose="020B0502040204020203" pitchFamily="34" charset="0"/>
              </a:rPr>
              <a:t>SAP, Adobe, Microsoft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04002D8-0974-08B4-66CE-2B8891FEAFDA}"/>
              </a:ext>
            </a:extLst>
          </p:cNvPr>
          <p:cNvSpPr txBox="1"/>
          <p:nvPr/>
        </p:nvSpPr>
        <p:spPr>
          <a:xfrm>
            <a:off x="7937500" y="2628900"/>
            <a:ext cx="381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94560"/>
                </a:solidFill>
                <a:latin typeface="Segoe UI" panose="020B0502040204020203" pitchFamily="34" charset="0"/>
              </a:rPr>
              <a:t>ISVs que nao fizeram a transicao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B15E046-7FF8-856E-086C-63D842091878}"/>
              </a:ext>
            </a:extLst>
          </p:cNvPr>
          <p:cNvSpPr/>
          <p:nvPr/>
        </p:nvSpPr>
        <p:spPr>
          <a:xfrm>
            <a:off x="254000" y="3175000"/>
            <a:ext cx="11684000" cy="584200"/>
          </a:xfrm>
          <a:prstGeom prst="rect">
            <a:avLst/>
          </a:prstGeom>
          <a:solidFill>
            <a:srgbClr val="141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780C7A8-EB40-09FF-6C85-845B3F526613}"/>
              </a:ext>
            </a:extLst>
          </p:cNvPr>
          <p:cNvSpPr txBox="1"/>
          <p:nvPr/>
        </p:nvSpPr>
        <p:spPr>
          <a:xfrm>
            <a:off x="317500" y="3263900"/>
            <a:ext cx="36195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FFFFFF"/>
                </a:solidFill>
                <a:latin typeface="Segoe UI" panose="020B0502040204020203" pitchFamily="34" charset="0"/>
              </a:rPr>
              <a:t>Mobile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9B209CB-E451-84F0-4055-4022406AF84F}"/>
              </a:ext>
            </a:extLst>
          </p:cNvPr>
          <p:cNvSpPr txBox="1"/>
          <p:nvPr/>
        </p:nvSpPr>
        <p:spPr>
          <a:xfrm>
            <a:off x="4127500" y="3263900"/>
            <a:ext cx="36195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4EC9B0"/>
                </a:solidFill>
                <a:latin typeface="Segoe UI" panose="020B0502040204020203" pitchFamily="34" charset="0"/>
              </a:rPr>
              <a:t>Adaptacao ampla, poucos desapareceram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0F8105B-E79C-632F-ECCD-7C2DEB487879}"/>
              </a:ext>
            </a:extLst>
          </p:cNvPr>
          <p:cNvSpPr txBox="1"/>
          <p:nvPr/>
        </p:nvSpPr>
        <p:spPr>
          <a:xfrm>
            <a:off x="7937500" y="3263900"/>
            <a:ext cx="381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94560"/>
                </a:solidFill>
                <a:latin typeface="Segoe UI" panose="020B0502040204020203" pitchFamily="34" charset="0"/>
              </a:rPr>
              <a:t>Ferramentas desktop especializadas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BB484FF-03FE-0BF0-BAC0-AF44B7A5DD75}"/>
              </a:ext>
            </a:extLst>
          </p:cNvPr>
          <p:cNvSpPr/>
          <p:nvPr/>
        </p:nvSpPr>
        <p:spPr>
          <a:xfrm>
            <a:off x="254000" y="3810000"/>
            <a:ext cx="11684000" cy="584200"/>
          </a:xfrm>
          <a:prstGeom prst="rect">
            <a:avLst/>
          </a:prstGeom>
          <a:solidFill>
            <a:srgbClr val="2A0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A98E1B4-A00B-6B42-C93E-C8691D0BCE13}"/>
              </a:ext>
            </a:extLst>
          </p:cNvPr>
          <p:cNvSpPr txBox="1"/>
          <p:nvPr/>
        </p:nvSpPr>
        <p:spPr>
          <a:xfrm>
            <a:off x="317500" y="3898900"/>
            <a:ext cx="36195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F5C518"/>
                </a:solidFill>
                <a:latin typeface="Segoe UI" panose="020B0502040204020203" pitchFamily="34" charset="0"/>
              </a:rPr>
              <a:t>IA GENERATIVA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5F1A09A-5403-7D4E-C417-F4EFF228E921}"/>
              </a:ext>
            </a:extLst>
          </p:cNvPr>
          <p:cNvSpPr txBox="1"/>
          <p:nvPr/>
        </p:nvSpPr>
        <p:spPr>
          <a:xfrm>
            <a:off x="4127500" y="3898900"/>
            <a:ext cx="36195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4EC9B0"/>
                </a:solidFill>
                <a:latin typeface="Segoe UI" panose="020B0502040204020203" pitchFamily="34" charset="0"/>
              </a:rPr>
              <a:t>A ser escrito...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3C6F8D1-789E-303C-4350-93229148AE24}"/>
              </a:ext>
            </a:extLst>
          </p:cNvPr>
          <p:cNvSpPr txBox="1"/>
          <p:nvPr/>
        </p:nvSpPr>
        <p:spPr>
          <a:xfrm>
            <a:off x="7937500" y="3898900"/>
            <a:ext cx="3810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94560"/>
                </a:solidFill>
                <a:latin typeface="Segoe UI" panose="020B0502040204020203" pitchFamily="34" charset="0"/>
              </a:rPr>
              <a:t>A ser escrito...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BBCC24D-A1F8-8EA0-329B-753D54ABF9D2}"/>
              </a:ext>
            </a:extLst>
          </p:cNvPr>
          <p:cNvSpPr txBox="1"/>
          <p:nvPr/>
        </p:nvSpPr>
        <p:spPr>
          <a:xfrm>
            <a:off x="254000" y="5181600"/>
            <a:ext cx="11684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FFFFFF"/>
                </a:solidFill>
                <a:latin typeface="Segoe UI" panose="020B0502040204020203" pitchFamily="34" charset="0"/>
              </a:rPr>
              <a:t>A diferenca desta vez: velocidade e profundidade sem paralelo. Nas transicoes anteriores havia tempo para aprender e pivotar. A janela agora e significativamente menor.</a:t>
            </a:r>
          </a:p>
        </p:txBody>
      </p:sp>
    </p:spTree>
    <p:extLst>
      <p:ext uri="{BB962C8B-B14F-4D97-AF65-F5344CB8AC3E}">
        <p14:creationId xmlns:p14="http://schemas.microsoft.com/office/powerpoint/2010/main" val="1196154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6A2AEE9-71D4-AA55-3A39-081CFBCA6EB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49339EC-0A3F-FF2C-FABF-30ADD4E9F962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E945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A86343E-3E66-24FE-4CE0-AAA23625DA56}"/>
              </a:ext>
            </a:extLst>
          </p:cNvPr>
          <p:cNvSpPr txBox="1"/>
          <p:nvPr/>
        </p:nvSpPr>
        <p:spPr>
          <a:xfrm>
            <a:off x="0" y="952500"/>
            <a:ext cx="12192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600">
                <a:solidFill>
                  <a:srgbClr val="CCCCCC"/>
                </a:solidFill>
                <a:latin typeface="Segoe UI" panose="020B0502040204020203" pitchFamily="34" charset="0"/>
              </a:rPr>
              <a:t>Em 2030, o seu negocio vendera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D4035CA-B1E9-36DA-064A-36AA0BB82213}"/>
              </a:ext>
            </a:extLst>
          </p:cNvPr>
          <p:cNvSpPr txBox="1"/>
          <p:nvPr/>
        </p:nvSpPr>
        <p:spPr>
          <a:xfrm>
            <a:off x="0" y="1587500"/>
            <a:ext cx="12192000" cy="80021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4600" b="1">
                <a:solidFill>
                  <a:srgbClr val="FFFFFF"/>
                </a:solidFill>
                <a:latin typeface="Segoe UI" panose="020B0502040204020203" pitchFamily="34" charset="0"/>
              </a:rPr>
              <a:t>software com IA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220CBD-6E61-B9CE-B3B4-D33A17FA7604}"/>
              </a:ext>
            </a:extLst>
          </p:cNvPr>
          <p:cNvSpPr txBox="1"/>
          <p:nvPr/>
        </p:nvSpPr>
        <p:spPr>
          <a:xfrm>
            <a:off x="0" y="2438400"/>
            <a:ext cx="1219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>
                <a:solidFill>
                  <a:srgbClr val="888888"/>
                </a:solidFill>
                <a:latin typeface="Segoe UI" panose="020B0502040204020203" pitchFamily="34" charset="0"/>
              </a:rPr>
              <a:t>- ou -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7F6BAF3-9DFD-42C9-2BB7-02957B5F72F0}"/>
              </a:ext>
            </a:extLst>
          </p:cNvPr>
          <p:cNvSpPr txBox="1"/>
          <p:nvPr/>
        </p:nvSpPr>
        <p:spPr>
          <a:xfrm>
            <a:off x="0" y="2870200"/>
            <a:ext cx="12192000" cy="80021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4600" b="1">
                <a:solidFill>
                  <a:srgbClr val="E94560"/>
                </a:solidFill>
                <a:latin typeface="Segoe UI" panose="020B0502040204020203" pitchFamily="34" charset="0"/>
              </a:rPr>
              <a:t>inteligencia com software?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F062D3E8-0DD7-084C-A605-CED6561A194A}"/>
              </a:ext>
            </a:extLst>
          </p:cNvPr>
          <p:cNvCxnSpPr/>
          <p:nvPr/>
        </p:nvCxnSpPr>
        <p:spPr>
          <a:xfrm>
            <a:off x="3556000" y="3835400"/>
            <a:ext cx="5080000" cy="0"/>
          </a:xfrm>
          <a:prstGeom prst="line">
            <a:avLst/>
          </a:prstGeom>
          <a:ln w="25400">
            <a:solidFill>
              <a:srgbClr val="E9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32D13803-A060-8A82-8E69-BD6F37E87ABF}"/>
              </a:ext>
            </a:extLst>
          </p:cNvPr>
          <p:cNvSpPr txBox="1"/>
          <p:nvPr/>
        </p:nvSpPr>
        <p:spPr>
          <a:xfrm>
            <a:off x="1016000" y="4038600"/>
            <a:ext cx="10160000" cy="33855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600">
                <a:solidFill>
                  <a:srgbClr val="CCCCCC"/>
                </a:solidFill>
                <a:latin typeface="Segoe UI" panose="020B0502040204020203" pitchFamily="34" charset="0"/>
              </a:rPr>
              <a:t>A resposta que voce der hoje pode ser a decisao estrategica mais importante da proxima decada.</a:t>
            </a:r>
          </a:p>
        </p:txBody>
      </p:sp>
    </p:spTree>
    <p:extLst>
      <p:ext uri="{BB962C8B-B14F-4D97-AF65-F5344CB8AC3E}">
        <p14:creationId xmlns:p14="http://schemas.microsoft.com/office/powerpoint/2010/main" val="12959220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2049</Words>
  <Application>Microsoft Office PowerPoint</Application>
  <PresentationFormat>Personalizar</PresentationFormat>
  <Paragraphs>229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Luciano Lorenzo</dc:creator>
  <cp:lastModifiedBy>Luciano Lorenzo</cp:lastModifiedBy>
  <cp:revision>1</cp:revision>
  <dcterms:created xsi:type="dcterms:W3CDTF">2026-03-27T19:13:32Z</dcterms:created>
  <dcterms:modified xsi:type="dcterms:W3CDTF">2026-03-27T19:13:32Z</dcterms:modified>
</cp:coreProperties>
</file>